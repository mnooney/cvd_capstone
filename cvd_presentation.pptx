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A91D47-716F-4213-B8C6-0AB429D583D9}" v="54" dt="2026-05-02T19:46:03.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03" d="100"/>
          <a:sy n="103" d="100"/>
        </p:scale>
        <p:origin x="874" y="7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issa Nooney" userId="d582c21209576632" providerId="LiveId" clId="{7333A537-3DB0-4D60-8D4E-33AB27DF44CB}"/>
    <pc:docChg chg="custSel mod modSld">
      <pc:chgData name="Melissa Nooney" userId="d582c21209576632" providerId="LiveId" clId="{7333A537-3DB0-4D60-8D4E-33AB27DF44CB}" dt="2026-05-04T03:03:44.014" v="92"/>
      <pc:docMkLst>
        <pc:docMk/>
      </pc:docMkLst>
      <pc:sldChg chg="addSp delSp modSp mod modTransition delAnim modAnim">
        <pc:chgData name="Melissa Nooney" userId="d582c21209576632" providerId="LiveId" clId="{7333A537-3DB0-4D60-8D4E-33AB27DF44CB}" dt="2026-05-02T19:46:03.048" v="91"/>
        <pc:sldMkLst>
          <pc:docMk/>
          <pc:sldMk cId="0" sldId="256"/>
        </pc:sldMkLst>
      </pc:sldChg>
      <pc:sldChg chg="addSp delSp modSp mod modTransition delAnim modAnim">
        <pc:chgData name="Melissa Nooney" userId="d582c21209576632" providerId="LiveId" clId="{7333A537-3DB0-4D60-8D4E-33AB27DF44CB}" dt="2026-05-02T19:46:03.048" v="91"/>
        <pc:sldMkLst>
          <pc:docMk/>
          <pc:sldMk cId="0" sldId="257"/>
        </pc:sldMkLst>
      </pc:sldChg>
      <pc:sldChg chg="addSp delSp modSp mod modTransition delAnim modAnim">
        <pc:chgData name="Melissa Nooney" userId="d582c21209576632" providerId="LiveId" clId="{7333A537-3DB0-4D60-8D4E-33AB27DF44CB}" dt="2026-05-02T19:46:03.048" v="91"/>
        <pc:sldMkLst>
          <pc:docMk/>
          <pc:sldMk cId="0" sldId="258"/>
        </pc:sldMkLst>
      </pc:sldChg>
      <pc:sldChg chg="addSp delSp modSp mod modTransition delAnim modAnim">
        <pc:chgData name="Melissa Nooney" userId="d582c21209576632" providerId="LiveId" clId="{7333A537-3DB0-4D60-8D4E-33AB27DF44CB}" dt="2026-05-02T19:46:03.048" v="91"/>
        <pc:sldMkLst>
          <pc:docMk/>
          <pc:sldMk cId="0" sldId="259"/>
        </pc:sldMkLst>
      </pc:sldChg>
      <pc:sldChg chg="addSp delSp modSp mod modTransition delAnim modAnim">
        <pc:chgData name="Melissa Nooney" userId="d582c21209576632" providerId="LiveId" clId="{7333A537-3DB0-4D60-8D4E-33AB27DF44CB}" dt="2026-05-02T19:46:03.048" v="91"/>
        <pc:sldMkLst>
          <pc:docMk/>
          <pc:sldMk cId="0" sldId="260"/>
        </pc:sldMkLst>
      </pc:sldChg>
      <pc:sldChg chg="addSp delSp modSp mod modTransition delAnim modAnim">
        <pc:chgData name="Melissa Nooney" userId="d582c21209576632" providerId="LiveId" clId="{7333A537-3DB0-4D60-8D4E-33AB27DF44CB}" dt="2026-05-02T19:46:03.048" v="91"/>
        <pc:sldMkLst>
          <pc:docMk/>
          <pc:sldMk cId="0" sldId="261"/>
        </pc:sldMkLst>
      </pc:sldChg>
      <pc:sldChg chg="addSp delSp modSp mod modTransition delAnim modAnim">
        <pc:chgData name="Melissa Nooney" userId="d582c21209576632" providerId="LiveId" clId="{7333A537-3DB0-4D60-8D4E-33AB27DF44CB}" dt="2026-05-02T19:46:03.048" v="91"/>
        <pc:sldMkLst>
          <pc:docMk/>
          <pc:sldMk cId="0" sldId="262"/>
        </pc:sldMkLst>
      </pc:sldChg>
      <pc:sldChg chg="addSp delSp modSp mod modTransition delAnim modAnim">
        <pc:chgData name="Melissa Nooney" userId="d582c21209576632" providerId="LiveId" clId="{7333A537-3DB0-4D60-8D4E-33AB27DF44CB}" dt="2026-05-02T19:46:03.048" v="91"/>
        <pc:sldMkLst>
          <pc:docMk/>
          <pc:sldMk cId="0" sldId="263"/>
        </pc:sldMkLst>
      </pc:sldChg>
      <pc:sldChg chg="addSp delSp modSp mod modTransition delAnim">
        <pc:chgData name="Melissa Nooney" userId="d582c21209576632" providerId="LiveId" clId="{7333A537-3DB0-4D60-8D4E-33AB27DF44CB}" dt="2026-05-02T19:46:03.048" v="91"/>
        <pc:sldMkLst>
          <pc:docMk/>
          <pc:sldMk cId="0" sldId="264"/>
        </pc:sldMkLst>
      </pc:sldChg>
      <pc:sldChg chg="addSp delSp modSp mod modTransition delAnim">
        <pc:chgData name="Melissa Nooney" userId="d582c21209576632" providerId="LiveId" clId="{7333A537-3DB0-4D60-8D4E-33AB27DF44CB}" dt="2026-05-02T19:46:03.048" v="91"/>
        <pc:sldMkLst>
          <pc:docMk/>
          <pc:sldMk cId="0" sldId="265"/>
        </pc:sldMkLst>
      </pc:sldChg>
      <pc:sldChg chg="addSp delSp modSp mod modTransition delAnim">
        <pc:chgData name="Melissa Nooney" userId="d582c21209576632" providerId="LiveId" clId="{7333A537-3DB0-4D60-8D4E-33AB27DF44CB}" dt="2026-05-02T19:46:03.048" v="91"/>
        <pc:sldMkLst>
          <pc:docMk/>
          <pc:sldMk cId="0" sldId="266"/>
        </pc:sldMkLst>
      </pc:sldChg>
      <pc:sldChg chg="addSp delSp modSp mod modTransition delAnim">
        <pc:chgData name="Melissa Nooney" userId="d582c21209576632" providerId="LiveId" clId="{7333A537-3DB0-4D60-8D4E-33AB27DF44CB}" dt="2026-05-02T19:46:03.048" v="91"/>
        <pc:sldMkLst>
          <pc:docMk/>
          <pc:sldMk cId="0" sldId="267"/>
        </pc:sldMkLst>
      </pc:sldChg>
      <pc:sldChg chg="addSp delSp modSp mod modTransition delAnim">
        <pc:chgData name="Melissa Nooney" userId="d582c21209576632" providerId="LiveId" clId="{7333A537-3DB0-4D60-8D4E-33AB27DF44CB}" dt="2026-05-02T19:46:03.048" v="91"/>
        <pc:sldMkLst>
          <pc:docMk/>
          <pc:sldMk cId="0" sldId="268"/>
        </pc:sldMkLst>
      </pc:sldChg>
      <pc:sldChg chg="addSp delSp modSp mod modTransition delAnim">
        <pc:chgData name="Melissa Nooney" userId="d582c21209576632" providerId="LiveId" clId="{7333A537-3DB0-4D60-8D4E-33AB27DF44CB}" dt="2026-05-02T19:46:03.048" v="91"/>
        <pc:sldMkLst>
          <pc:docMk/>
          <pc:sldMk cId="0" sldId="269"/>
        </pc:sldMkLst>
      </pc:sldChg>
      <pc:sldChg chg="addSp delSp modSp mod modTransition delAnim">
        <pc:chgData name="Melissa Nooney" userId="d582c21209576632" providerId="LiveId" clId="{7333A537-3DB0-4D60-8D4E-33AB27DF44CB}" dt="2026-05-02T19:46:03.048" v="91"/>
        <pc:sldMkLst>
          <pc:docMk/>
          <pc:sldMk cId="0"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845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55E00"/>
          </a:solidFill>
          <a:ln w="12700">
            <a:solidFill>
              <a:srgbClr val="D55E00"/>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0072B2"/>
          </a:solidFill>
          <a:ln w="12700">
            <a:solidFill>
              <a:srgbClr val="0072B2"/>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A0A0C0"/>
                </a:solidFill>
                <a:latin typeface="Calibri" pitchFamily="34" charset="0"/>
                <a:ea typeface="Calibri" pitchFamily="34" charset="-122"/>
                <a:cs typeface="Calibri" pitchFamily="34" charset="-120"/>
              </a:rPr>
              <a:t>1</a:t>
            </a:r>
            <a:endParaRPr lang="en-US" sz="1000" dirty="0"/>
          </a:p>
        </p:txBody>
      </p:sp>
      <p:sp>
        <p:nvSpPr>
          <p:cNvPr id="5" name="Text 3"/>
          <p:cNvSpPr/>
          <p:nvPr/>
        </p:nvSpPr>
        <p:spPr>
          <a:xfrm>
            <a:off x="548640" y="640080"/>
            <a:ext cx="8046720" cy="1097280"/>
          </a:xfrm>
          <a:prstGeom prst="rect">
            <a:avLst/>
          </a:prstGeom>
          <a:noFill/>
          <a:ln/>
        </p:spPr>
        <p:txBody>
          <a:bodyPr wrap="square" rtlCol="0" anchor="ctr"/>
          <a:lstStyle/>
          <a:p>
            <a:pPr marL="0" indent="0" algn="l">
              <a:buNone/>
            </a:pPr>
            <a:r>
              <a:rPr lang="en-US" sz="4800" b="1" dirty="0">
                <a:solidFill>
                  <a:srgbClr val="FFFFFF"/>
                </a:solidFill>
                <a:latin typeface="Trebuchet MS" pitchFamily="34" charset="0"/>
                <a:ea typeface="Trebuchet MS" pitchFamily="34" charset="-122"/>
                <a:cs typeface="Trebuchet MS" pitchFamily="34" charset="-120"/>
              </a:rPr>
              <a:t>Beyond Accuracy</a:t>
            </a:r>
            <a:endParaRPr lang="en-US" sz="4800" dirty="0"/>
          </a:p>
        </p:txBody>
      </p:sp>
      <p:sp>
        <p:nvSpPr>
          <p:cNvPr id="6" name="Text 4"/>
          <p:cNvSpPr/>
          <p:nvPr/>
        </p:nvSpPr>
        <p:spPr>
          <a:xfrm>
            <a:off x="548640" y="1737360"/>
            <a:ext cx="8046720" cy="822960"/>
          </a:xfrm>
          <a:prstGeom prst="rect">
            <a:avLst/>
          </a:prstGeom>
          <a:noFill/>
          <a:ln/>
        </p:spPr>
        <p:txBody>
          <a:bodyPr wrap="square" rtlCol="0" anchor="ctr"/>
          <a:lstStyle/>
          <a:p>
            <a:pPr marL="0" indent="0" algn="l">
              <a:buNone/>
            </a:pPr>
            <a:r>
              <a:rPr lang="en-US" sz="2000" dirty="0">
                <a:solidFill>
                  <a:srgbClr val="56B4E9"/>
                </a:solidFill>
                <a:latin typeface="Trebuchet MS" pitchFamily="34" charset="0"/>
                <a:ea typeface="Trebuchet MS" pitchFamily="34" charset="-122"/>
                <a:cs typeface="Trebuchet MS" pitchFamily="34" charset="-120"/>
              </a:rPr>
              <a:t>A Clinical Validation Approach to CVD Prediction Using Machine Learning</a:t>
            </a:r>
            <a:endParaRPr lang="en-US" sz="2000" dirty="0"/>
          </a:p>
        </p:txBody>
      </p:sp>
      <p:sp>
        <p:nvSpPr>
          <p:cNvPr id="7" name="Shape 5"/>
          <p:cNvSpPr/>
          <p:nvPr/>
        </p:nvSpPr>
        <p:spPr>
          <a:xfrm>
            <a:off x="548640" y="2743200"/>
            <a:ext cx="3200400" cy="36576"/>
          </a:xfrm>
          <a:prstGeom prst="rect">
            <a:avLst/>
          </a:prstGeom>
          <a:solidFill>
            <a:srgbClr val="D55E00"/>
          </a:solidFill>
          <a:ln w="12700">
            <a:solidFill>
              <a:srgbClr val="D55E00"/>
            </a:solidFill>
            <a:prstDash val="solid"/>
          </a:ln>
        </p:spPr>
        <p:txBody>
          <a:bodyPr/>
          <a:lstStyle/>
          <a:p>
            <a:endParaRPr lang="en-US"/>
          </a:p>
        </p:txBody>
      </p:sp>
      <p:sp>
        <p:nvSpPr>
          <p:cNvPr id="8" name="Text 6"/>
          <p:cNvSpPr/>
          <p:nvPr/>
        </p:nvSpPr>
        <p:spPr>
          <a:xfrm>
            <a:off x="548640" y="2926080"/>
            <a:ext cx="4572000" cy="365760"/>
          </a:xfrm>
          <a:prstGeom prst="rect">
            <a:avLst/>
          </a:prstGeom>
          <a:noFill/>
          <a:ln/>
        </p:spPr>
        <p:txBody>
          <a:bodyPr wrap="square"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Melissa Nooney</a:t>
            </a:r>
            <a:endParaRPr lang="en-US" sz="1600" dirty="0"/>
          </a:p>
        </p:txBody>
      </p:sp>
      <p:sp>
        <p:nvSpPr>
          <p:cNvPr id="9" name="Text 7"/>
          <p:cNvSpPr/>
          <p:nvPr/>
        </p:nvSpPr>
        <p:spPr>
          <a:xfrm>
            <a:off x="548640" y="3337560"/>
            <a:ext cx="7315200" cy="320040"/>
          </a:xfrm>
          <a:prstGeom prst="rect">
            <a:avLst/>
          </a:prstGeom>
          <a:noFill/>
          <a:ln/>
        </p:spPr>
        <p:txBody>
          <a:bodyPr wrap="square" rtlCol="0" anchor="ctr"/>
          <a:lstStyle/>
          <a:p>
            <a:pPr marL="0" indent="0" algn="l">
              <a:buNone/>
            </a:pPr>
            <a:r>
              <a:rPr lang="en-US" sz="1300" dirty="0">
                <a:solidFill>
                  <a:srgbClr val="A0A0C0"/>
                </a:solidFill>
                <a:latin typeface="Calibri" pitchFamily="34" charset="0"/>
                <a:ea typeface="Calibri" pitchFamily="34" charset="-122"/>
                <a:cs typeface="Calibri" pitchFamily="34" charset="-120"/>
              </a:rPr>
              <a:t>M.S. Data Science  |  Merrimack College  |  May 2026</a:t>
            </a:r>
            <a:endParaRPr lang="en-US" sz="1300" dirty="0"/>
          </a:p>
        </p:txBody>
      </p:sp>
      <p:sp>
        <p:nvSpPr>
          <p:cNvPr id="10" name="Text 8"/>
          <p:cNvSpPr/>
          <p:nvPr/>
        </p:nvSpPr>
        <p:spPr>
          <a:xfrm>
            <a:off x="548640" y="3749040"/>
            <a:ext cx="7315200" cy="320040"/>
          </a:xfrm>
          <a:prstGeom prst="rect">
            <a:avLst/>
          </a:prstGeom>
          <a:noFill/>
          <a:ln/>
        </p:spPr>
        <p:txBody>
          <a:bodyPr wrap="square" rtlCol="0" anchor="ctr"/>
          <a:lstStyle/>
          <a:p>
            <a:pPr marL="0" indent="0" algn="l">
              <a:buNone/>
            </a:pPr>
            <a:r>
              <a:rPr lang="en-US" sz="1200" i="1" dirty="0">
                <a:solidFill>
                  <a:srgbClr val="A0A0C0"/>
                </a:solidFill>
                <a:latin typeface="Calibri" pitchFamily="34" charset="0"/>
                <a:ea typeface="Calibri" pitchFamily="34" charset="-122"/>
                <a:cs typeface="Calibri" pitchFamily="34" charset="-120"/>
              </a:rPr>
              <a:t>Presented to: Clinical AI/ML Developers &amp; Cardiologists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2B2"/>
          </a:solidFill>
          <a:ln w="12700">
            <a:solidFill>
              <a:srgbClr val="0072B2"/>
            </a:solidFill>
            <a:prstDash val="solid"/>
          </a:ln>
        </p:spPr>
        <p:txBody>
          <a:bodyPr/>
          <a:lstStyle/>
          <a:p>
            <a:endParaRPr lang="en-US"/>
          </a:p>
        </p:txBody>
      </p:sp>
      <p:sp>
        <p:nvSpPr>
          <p:cNvPr id="3" name="Shape 1"/>
          <p:cNvSpPr/>
          <p:nvPr/>
        </p:nvSpPr>
        <p:spPr>
          <a:xfrm>
            <a:off x="0" y="5070348"/>
            <a:ext cx="9144000" cy="36576"/>
          </a:xfrm>
          <a:prstGeom prst="rect">
            <a:avLst/>
          </a:prstGeom>
          <a:solidFill>
            <a:srgbClr val="D55E00"/>
          </a:solidFill>
          <a:ln w="12700">
            <a:solidFill>
              <a:srgbClr val="D55E00"/>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0072B2"/>
                </a:solidFill>
                <a:latin typeface="Trebuchet MS" pitchFamily="34" charset="0"/>
                <a:ea typeface="Trebuchet MS" pitchFamily="34" charset="-122"/>
                <a:cs typeface="Trebuchet MS" pitchFamily="34" charset="-120"/>
              </a:rPr>
              <a:t>The Problem: When Accuracy Isn't Enough</a:t>
            </a:r>
            <a:endParaRPr lang="en-US" sz="2800" dirty="0"/>
          </a:p>
        </p:txBody>
      </p:sp>
      <p:sp>
        <p:nvSpPr>
          <p:cNvPr id="6" name="Shape 4"/>
          <p:cNvSpPr/>
          <p:nvPr/>
        </p:nvSpPr>
        <p:spPr>
          <a:xfrm>
            <a:off x="274320" y="914400"/>
            <a:ext cx="4023360" cy="3474720"/>
          </a:xfrm>
          <a:prstGeom prst="rect">
            <a:avLst/>
          </a:prstGeom>
          <a:solidFill>
            <a:srgbClr val="F4F8FC"/>
          </a:solidFill>
          <a:ln w="12700">
            <a:solidFill>
              <a:srgbClr val="C8DCEC"/>
            </a:solidFill>
            <a:prstDash val="solid"/>
          </a:ln>
        </p:spPr>
        <p:txBody>
          <a:bodyPr/>
          <a:lstStyle/>
          <a:p>
            <a:endParaRPr lang="en-US" dirty="0"/>
          </a:p>
        </p:txBody>
      </p:sp>
      <p:sp>
        <p:nvSpPr>
          <p:cNvPr id="7" name="Text 5"/>
          <p:cNvSpPr/>
          <p:nvPr/>
        </p:nvSpPr>
        <p:spPr>
          <a:xfrm>
            <a:off x="274320" y="1143000"/>
            <a:ext cx="3840480" cy="3328416"/>
          </a:xfrm>
          <a:prstGeom prst="rect">
            <a:avLst/>
          </a:prstGeom>
          <a:noFill/>
          <a:ln/>
        </p:spPr>
        <p:txBody>
          <a:bodyPr wrap="square" rtlCol="0" anchor="t"/>
          <a:lstStyle/>
          <a:p>
            <a:pPr marL="0" indent="0" algn="l">
              <a:buNone/>
            </a:pPr>
            <a:endParaRPr lang="en-US" sz="1300" dirty="0"/>
          </a:p>
          <a:p>
            <a:pPr marL="0" indent="0" algn="l">
              <a:buNone/>
            </a:pPr>
            <a:r>
              <a:rPr lang="en-US" sz="1300" i="1" dirty="0">
                <a:solidFill>
                  <a:srgbClr val="64748B"/>
                </a:solidFill>
                <a:latin typeface="Calibri" pitchFamily="34" charset="0"/>
                <a:ea typeface="Calibri" pitchFamily="34" charset="-122"/>
                <a:cs typeface="Calibri" pitchFamily="34" charset="-120"/>
              </a:rPr>
              <a:t>• Cardiovascular disease is the leading cause of death globally, accounting for 19.8 millions death annually(WHO, 2022)</a:t>
            </a:r>
          </a:p>
          <a:p>
            <a:pPr marL="0" indent="0" algn="l">
              <a:buNone/>
            </a:pPr>
            <a:endParaRPr lang="en-US" sz="1300" dirty="0"/>
          </a:p>
          <a:p>
            <a:pPr marL="0" indent="0" algn="l">
              <a:buNone/>
            </a:pPr>
            <a:r>
              <a:rPr lang="en-US" sz="1300" i="1" dirty="0">
                <a:solidFill>
                  <a:srgbClr val="64748B"/>
                </a:solidFill>
                <a:latin typeface="Calibri" pitchFamily="34" charset="0"/>
                <a:ea typeface="Calibri" pitchFamily="34" charset="-122"/>
                <a:cs typeface="Calibri" pitchFamily="34" charset="-120"/>
              </a:rPr>
              <a:t>• Gaps in detection include: socioeconomic constraints, underestimation of CV risk, and underuse of digital health such as AI based machine learning tools. (Dores et al, 2025)</a:t>
            </a:r>
          </a:p>
          <a:p>
            <a:pPr marL="0" indent="0" algn="l">
              <a:buNone/>
            </a:pPr>
            <a:endParaRPr lang="en-US" sz="1300" dirty="0"/>
          </a:p>
          <a:p>
            <a:pPr marL="0" indent="0" algn="l">
              <a:buNone/>
            </a:pPr>
            <a:r>
              <a:rPr lang="en-US" sz="1300" i="1" dirty="0">
                <a:solidFill>
                  <a:srgbClr val="64748B"/>
                </a:solidFill>
                <a:latin typeface="Calibri" pitchFamily="34" charset="0"/>
                <a:ea typeface="Calibri" pitchFamily="34" charset="-122"/>
                <a:cs typeface="Calibri" pitchFamily="34" charset="-120"/>
              </a:rPr>
              <a:t>• The ultimate cost of a missed diagnosis is death. </a:t>
            </a:r>
            <a:endParaRPr lang="en-US" sz="1300" dirty="0"/>
          </a:p>
          <a:p>
            <a:pPr marL="0" indent="0" algn="l">
              <a:buNone/>
            </a:pPr>
            <a:endParaRPr lang="en-US" sz="1300" dirty="0"/>
          </a:p>
        </p:txBody>
      </p:sp>
      <p:sp>
        <p:nvSpPr>
          <p:cNvPr id="8" name="Shape 6"/>
          <p:cNvSpPr/>
          <p:nvPr/>
        </p:nvSpPr>
        <p:spPr>
          <a:xfrm>
            <a:off x="4663440" y="914400"/>
            <a:ext cx="4114800" cy="1554480"/>
          </a:xfrm>
          <a:prstGeom prst="rect">
            <a:avLst/>
          </a:prstGeom>
          <a:solidFill>
            <a:srgbClr val="0072B2"/>
          </a:solidFill>
          <a:ln w="12700">
            <a:solidFill>
              <a:srgbClr val="0072B2"/>
            </a:solidFill>
            <a:prstDash val="solid"/>
          </a:ln>
        </p:spPr>
        <p:txBody>
          <a:bodyPr/>
          <a:lstStyle/>
          <a:p>
            <a:endParaRPr lang="en-US"/>
          </a:p>
        </p:txBody>
      </p:sp>
      <p:sp>
        <p:nvSpPr>
          <p:cNvPr id="9" name="Text 7"/>
          <p:cNvSpPr/>
          <p:nvPr/>
        </p:nvSpPr>
        <p:spPr>
          <a:xfrm>
            <a:off x="4754880" y="960120"/>
            <a:ext cx="3931920" cy="365760"/>
          </a:xfrm>
          <a:prstGeom prst="rect">
            <a:avLst/>
          </a:prstGeom>
          <a:noFill/>
          <a:ln/>
        </p:spPr>
        <p:txBody>
          <a:bodyPr wrap="square"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Research Question</a:t>
            </a:r>
            <a:endParaRPr lang="en-US" sz="1300" dirty="0"/>
          </a:p>
        </p:txBody>
      </p:sp>
      <p:sp>
        <p:nvSpPr>
          <p:cNvPr id="10" name="Text 8"/>
          <p:cNvSpPr/>
          <p:nvPr/>
        </p:nvSpPr>
        <p:spPr>
          <a:xfrm>
            <a:off x="4754880" y="1371600"/>
            <a:ext cx="3931920" cy="1005840"/>
          </a:xfrm>
          <a:prstGeom prst="rect">
            <a:avLst/>
          </a:prstGeom>
          <a:noFill/>
          <a:ln/>
        </p:spPr>
        <p:txBody>
          <a:bodyPr wrap="square"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How should ML model performance be evaluated to assess clinically appropriate CVD risk given sensitivity/specificity tradeoffs?</a:t>
            </a:r>
            <a:endParaRPr lang="en-US" sz="1200" dirty="0"/>
          </a:p>
        </p:txBody>
      </p:sp>
      <p:sp>
        <p:nvSpPr>
          <p:cNvPr id="11" name="Shape 9"/>
          <p:cNvSpPr/>
          <p:nvPr/>
        </p:nvSpPr>
        <p:spPr>
          <a:xfrm>
            <a:off x="4663440" y="2606040"/>
            <a:ext cx="4114800" cy="1828800"/>
          </a:xfrm>
          <a:prstGeom prst="rect">
            <a:avLst/>
          </a:prstGeom>
          <a:solidFill>
            <a:srgbClr val="F4F8FC"/>
          </a:solidFill>
          <a:ln w="12700">
            <a:solidFill>
              <a:srgbClr val="C8DCEC"/>
            </a:solidFill>
            <a:prstDash val="solid"/>
          </a:ln>
        </p:spPr>
        <p:txBody>
          <a:bodyPr/>
          <a:lstStyle/>
          <a:p>
            <a:endParaRPr lang="en-US"/>
          </a:p>
        </p:txBody>
      </p:sp>
      <p:sp>
        <p:nvSpPr>
          <p:cNvPr id="12" name="Text 10"/>
          <p:cNvSpPr/>
          <p:nvPr/>
        </p:nvSpPr>
        <p:spPr>
          <a:xfrm>
            <a:off x="4754880" y="2651760"/>
            <a:ext cx="3931920" cy="365760"/>
          </a:xfrm>
          <a:prstGeom prst="rect">
            <a:avLst/>
          </a:prstGeom>
          <a:noFill/>
          <a:ln/>
        </p:spPr>
        <p:txBody>
          <a:bodyPr wrap="square" rtlCol="0" anchor="ctr"/>
          <a:lstStyle/>
          <a:p>
            <a:pPr marL="0" indent="0" algn="l">
              <a:buNone/>
            </a:pPr>
            <a:r>
              <a:rPr lang="en-US" sz="1300" b="1" dirty="0">
                <a:solidFill>
                  <a:srgbClr val="0072B2"/>
                </a:solidFill>
                <a:latin typeface="Trebuchet MS" pitchFamily="34" charset="0"/>
                <a:ea typeface="Trebuchet MS" pitchFamily="34" charset="-122"/>
                <a:cs typeface="Trebuchet MS" pitchFamily="34" charset="-120"/>
              </a:rPr>
              <a:t>Hypothesis &amp; Prediction</a:t>
            </a:r>
            <a:endParaRPr lang="en-US" sz="1300" dirty="0"/>
          </a:p>
        </p:txBody>
      </p:sp>
      <p:sp>
        <p:nvSpPr>
          <p:cNvPr id="13" name="Text 11"/>
          <p:cNvSpPr/>
          <p:nvPr/>
        </p:nvSpPr>
        <p:spPr>
          <a:xfrm>
            <a:off x="4754880" y="2926080"/>
            <a:ext cx="3931920" cy="1188720"/>
          </a:xfrm>
          <a:prstGeom prst="rect">
            <a:avLst/>
          </a:prstGeom>
          <a:noFill/>
          <a:ln/>
        </p:spPr>
        <p:txBody>
          <a:bodyPr wrap="square" rtlCol="0" anchor="t"/>
          <a:lstStyle/>
          <a:p>
            <a:r>
              <a:rPr lang="en-US" sz="1200" dirty="0"/>
              <a:t>Optimizing sensitivity reduces false negatives but increases false positives. Missed diagnosis risks patients' lives, while overcalling drives patient anxiety, costs, and erodes trust. The goal is to find the threshold where the tradeoff is defensible. </a:t>
            </a:r>
          </a:p>
          <a:p>
            <a:endParaRPr lang="en-US" sz="1200" dirty="0"/>
          </a:p>
          <a:p>
            <a:r>
              <a:rPr lang="en-US" sz="1200" dirty="0"/>
              <a:t>Cost-sensitive learning will improve performance, and ensemble methods will outperform Logistic Regression.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2B2"/>
          </a:solidFill>
          <a:ln w="12700">
            <a:solidFill>
              <a:srgbClr val="0072B2"/>
            </a:solidFill>
            <a:prstDash val="solid"/>
          </a:ln>
        </p:spPr>
        <p:txBody>
          <a:bodyPr/>
          <a:lstStyle/>
          <a:p>
            <a:endParaRPr lang="en-US"/>
          </a:p>
        </p:txBody>
      </p:sp>
      <p:sp>
        <p:nvSpPr>
          <p:cNvPr id="3" name="Shape 1"/>
          <p:cNvSpPr/>
          <p:nvPr/>
        </p:nvSpPr>
        <p:spPr>
          <a:xfrm>
            <a:off x="0" y="5070348"/>
            <a:ext cx="9144000" cy="36576"/>
          </a:xfrm>
          <a:prstGeom prst="rect">
            <a:avLst/>
          </a:prstGeom>
          <a:solidFill>
            <a:srgbClr val="D55E00"/>
          </a:solidFill>
          <a:ln w="12700">
            <a:solidFill>
              <a:srgbClr val="D55E00"/>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0072B2"/>
                </a:solidFill>
                <a:latin typeface="Trebuchet MS" pitchFamily="34" charset="0"/>
                <a:ea typeface="Trebuchet MS" pitchFamily="34" charset="-122"/>
                <a:cs typeface="Trebuchet MS" pitchFamily="34" charset="-120"/>
              </a:rPr>
              <a:t>The Data: UCI Heart Disease Dataset</a:t>
            </a:r>
            <a:endParaRPr lang="en-US" sz="2800" dirty="0"/>
          </a:p>
        </p:txBody>
      </p:sp>
      <p:sp>
        <p:nvSpPr>
          <p:cNvPr id="6" name="Shape 4"/>
          <p:cNvSpPr/>
          <p:nvPr/>
        </p:nvSpPr>
        <p:spPr>
          <a:xfrm>
            <a:off x="365760" y="960120"/>
            <a:ext cx="1920240" cy="1188720"/>
          </a:xfrm>
          <a:prstGeom prst="rect">
            <a:avLst/>
          </a:prstGeom>
          <a:solidFill>
            <a:srgbClr val="0072B2"/>
          </a:solidFill>
          <a:ln w="12700">
            <a:solidFill>
              <a:srgbClr val="0072B2"/>
            </a:solidFill>
            <a:prstDash val="solid"/>
          </a:ln>
          <a:effectLst>
            <a:outerShdw blurRad="76200" dist="25400" dir="8100000" algn="bl" rotWithShape="0">
              <a:srgbClr val="000000">
                <a:alpha val="15000"/>
              </a:srgbClr>
            </a:outerShdw>
          </a:effectLst>
        </p:spPr>
        <p:txBody>
          <a:bodyPr/>
          <a:lstStyle/>
          <a:p>
            <a:endParaRPr lang="en-US"/>
          </a:p>
        </p:txBody>
      </p:sp>
      <p:sp>
        <p:nvSpPr>
          <p:cNvPr id="7" name="Text 5"/>
          <p:cNvSpPr/>
          <p:nvPr/>
        </p:nvSpPr>
        <p:spPr>
          <a:xfrm>
            <a:off x="457200" y="1051560"/>
            <a:ext cx="1737360" cy="1005840"/>
          </a:xfrm>
          <a:prstGeom prst="rect">
            <a:avLst/>
          </a:prstGeom>
          <a:noFill/>
          <a:ln/>
        </p:spPr>
        <p:txBody>
          <a:bodyPr wrap="square"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297</a:t>
            </a:r>
            <a:endParaRPr lang="en-US" sz="1300" dirty="0"/>
          </a:p>
          <a:p>
            <a:pPr marL="0" indent="0" algn="ctr">
              <a:buNone/>
            </a:pPr>
            <a:r>
              <a:rPr lang="en-US" sz="1300" i="1" dirty="0">
                <a:solidFill>
                  <a:srgbClr val="FFFFFF"/>
                </a:solidFill>
                <a:latin typeface="Calibri" pitchFamily="34" charset="0"/>
                <a:ea typeface="Calibri" pitchFamily="34" charset="-122"/>
                <a:cs typeface="Calibri" pitchFamily="34" charset="-120"/>
              </a:rPr>
              <a:t>Patients</a:t>
            </a:r>
            <a:endParaRPr lang="en-US" sz="1300" dirty="0"/>
          </a:p>
        </p:txBody>
      </p:sp>
      <p:sp>
        <p:nvSpPr>
          <p:cNvPr id="8" name="Shape 6"/>
          <p:cNvSpPr/>
          <p:nvPr/>
        </p:nvSpPr>
        <p:spPr>
          <a:xfrm>
            <a:off x="2651760" y="960120"/>
            <a:ext cx="1920240" cy="1188720"/>
          </a:xfrm>
          <a:prstGeom prst="rect">
            <a:avLst/>
          </a:prstGeom>
          <a:solidFill>
            <a:srgbClr val="0072B2"/>
          </a:solidFill>
          <a:ln w="12700">
            <a:solidFill>
              <a:srgbClr val="0072B2"/>
            </a:solidFill>
            <a:prstDash val="solid"/>
          </a:ln>
          <a:effectLst>
            <a:outerShdw blurRad="76200" dist="25400" dir="8100000" algn="bl" rotWithShape="0">
              <a:srgbClr val="000000">
                <a:alpha val="15000"/>
              </a:srgbClr>
            </a:outerShdw>
          </a:effectLst>
        </p:spPr>
        <p:txBody>
          <a:bodyPr/>
          <a:lstStyle/>
          <a:p>
            <a:endParaRPr lang="en-US"/>
          </a:p>
        </p:txBody>
      </p:sp>
      <p:sp>
        <p:nvSpPr>
          <p:cNvPr id="9" name="Text 7"/>
          <p:cNvSpPr/>
          <p:nvPr/>
        </p:nvSpPr>
        <p:spPr>
          <a:xfrm>
            <a:off x="2743200" y="1051560"/>
            <a:ext cx="1737360" cy="1005840"/>
          </a:xfrm>
          <a:prstGeom prst="rect">
            <a:avLst/>
          </a:prstGeom>
          <a:noFill/>
          <a:ln/>
        </p:spPr>
        <p:txBody>
          <a:bodyPr wrap="square"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16</a:t>
            </a:r>
            <a:endParaRPr lang="en-US" sz="1300" dirty="0"/>
          </a:p>
          <a:p>
            <a:pPr marL="0" indent="0" algn="ctr">
              <a:buNone/>
            </a:pPr>
            <a:r>
              <a:rPr lang="en-US" sz="1300" i="1" dirty="0">
                <a:solidFill>
                  <a:srgbClr val="FFFFFF"/>
                </a:solidFill>
                <a:latin typeface="Calibri" pitchFamily="34" charset="0"/>
                <a:ea typeface="Calibri" pitchFamily="34" charset="-122"/>
                <a:cs typeface="Calibri" pitchFamily="34" charset="-120"/>
              </a:rPr>
              <a:t>Features</a:t>
            </a:r>
            <a:endParaRPr lang="en-US" sz="1300" dirty="0"/>
          </a:p>
        </p:txBody>
      </p:sp>
      <p:sp>
        <p:nvSpPr>
          <p:cNvPr id="10" name="Shape 8"/>
          <p:cNvSpPr/>
          <p:nvPr/>
        </p:nvSpPr>
        <p:spPr>
          <a:xfrm>
            <a:off x="4937760" y="960120"/>
            <a:ext cx="1920240" cy="1188720"/>
          </a:xfrm>
          <a:prstGeom prst="rect">
            <a:avLst/>
          </a:prstGeom>
          <a:solidFill>
            <a:srgbClr val="0072B2"/>
          </a:solidFill>
          <a:ln w="12700">
            <a:solidFill>
              <a:srgbClr val="0072B2"/>
            </a:solidFill>
            <a:prstDash val="solid"/>
          </a:ln>
          <a:effectLst>
            <a:outerShdw blurRad="76200" dist="25400" dir="8100000" algn="bl" rotWithShape="0">
              <a:srgbClr val="000000">
                <a:alpha val="15000"/>
              </a:srgbClr>
            </a:outerShdw>
          </a:effectLst>
        </p:spPr>
        <p:txBody>
          <a:bodyPr/>
          <a:lstStyle/>
          <a:p>
            <a:endParaRPr lang="en-US"/>
          </a:p>
        </p:txBody>
      </p:sp>
      <p:sp>
        <p:nvSpPr>
          <p:cNvPr id="11" name="Text 9"/>
          <p:cNvSpPr/>
          <p:nvPr/>
        </p:nvSpPr>
        <p:spPr>
          <a:xfrm>
            <a:off x="5029200" y="1051560"/>
            <a:ext cx="1737360" cy="1005840"/>
          </a:xfrm>
          <a:prstGeom prst="rect">
            <a:avLst/>
          </a:prstGeom>
          <a:noFill/>
          <a:ln/>
        </p:spPr>
        <p:txBody>
          <a:bodyPr wrap="square"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45.9 %</a:t>
            </a:r>
            <a:endParaRPr lang="en-US" sz="1300" dirty="0"/>
          </a:p>
          <a:p>
            <a:pPr marL="0" indent="0" algn="ctr">
              <a:buNone/>
            </a:pPr>
            <a:r>
              <a:rPr lang="en-US" sz="1300" i="1" dirty="0">
                <a:solidFill>
                  <a:srgbClr val="FFFFFF"/>
                </a:solidFill>
                <a:latin typeface="Calibri" pitchFamily="34" charset="0"/>
                <a:ea typeface="Calibri" pitchFamily="34" charset="-122"/>
                <a:cs typeface="Calibri" pitchFamily="34" charset="-120"/>
              </a:rPr>
              <a:t>CVD Present</a:t>
            </a:r>
            <a:endParaRPr lang="en-US" sz="1300" dirty="0"/>
          </a:p>
        </p:txBody>
      </p:sp>
      <p:sp>
        <p:nvSpPr>
          <p:cNvPr id="12" name="Shape 10"/>
          <p:cNvSpPr/>
          <p:nvPr/>
        </p:nvSpPr>
        <p:spPr>
          <a:xfrm>
            <a:off x="6995160" y="960120"/>
            <a:ext cx="1920240" cy="1188720"/>
          </a:xfrm>
          <a:prstGeom prst="rect">
            <a:avLst/>
          </a:prstGeom>
          <a:solidFill>
            <a:srgbClr val="0072B2"/>
          </a:solidFill>
          <a:ln w="12700">
            <a:solidFill>
              <a:srgbClr val="0072B2"/>
            </a:solidFill>
            <a:prstDash val="solid"/>
          </a:ln>
          <a:effectLst>
            <a:outerShdw blurRad="76200" dist="25400" dir="8100000" algn="bl" rotWithShape="0">
              <a:srgbClr val="000000">
                <a:alpha val="15000"/>
              </a:srgbClr>
            </a:outerShdw>
          </a:effectLst>
        </p:spPr>
        <p:txBody>
          <a:bodyPr/>
          <a:lstStyle/>
          <a:p>
            <a:endParaRPr lang="en-US"/>
          </a:p>
        </p:txBody>
      </p:sp>
      <p:sp>
        <p:nvSpPr>
          <p:cNvPr id="13" name="Text 11"/>
          <p:cNvSpPr/>
          <p:nvPr/>
        </p:nvSpPr>
        <p:spPr>
          <a:xfrm>
            <a:off x="7086600" y="1051560"/>
            <a:ext cx="1737360" cy="1005840"/>
          </a:xfrm>
          <a:prstGeom prst="rect">
            <a:avLst/>
          </a:prstGeom>
          <a:noFill/>
          <a:ln/>
        </p:spPr>
        <p:txBody>
          <a:bodyPr wrap="square"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1988</a:t>
            </a:r>
            <a:endParaRPr lang="en-US" sz="1300" dirty="0"/>
          </a:p>
          <a:p>
            <a:pPr marL="0" indent="0" algn="ctr">
              <a:buNone/>
            </a:pPr>
            <a:r>
              <a:rPr lang="en-US" sz="1300" i="1" dirty="0">
                <a:solidFill>
                  <a:srgbClr val="FFFFFF"/>
                </a:solidFill>
                <a:latin typeface="Calibri" pitchFamily="34" charset="0"/>
                <a:ea typeface="Calibri" pitchFamily="34" charset="-122"/>
                <a:cs typeface="Calibri" pitchFamily="34" charset="-120"/>
              </a:rPr>
              <a:t>Cleveland Clinic</a:t>
            </a:r>
            <a:endParaRPr lang="en-US" sz="1300" dirty="0"/>
          </a:p>
        </p:txBody>
      </p:sp>
      <p:sp>
        <p:nvSpPr>
          <p:cNvPr id="14" name="Shape 12"/>
          <p:cNvSpPr/>
          <p:nvPr/>
        </p:nvSpPr>
        <p:spPr>
          <a:xfrm>
            <a:off x="365760" y="2377440"/>
            <a:ext cx="5029200" cy="2011680"/>
          </a:xfrm>
          <a:prstGeom prst="rect">
            <a:avLst/>
          </a:prstGeom>
          <a:solidFill>
            <a:srgbClr val="F4F8FC"/>
          </a:solidFill>
          <a:ln w="12700">
            <a:solidFill>
              <a:srgbClr val="C8DCEC"/>
            </a:solidFill>
            <a:prstDash val="solid"/>
          </a:ln>
        </p:spPr>
        <p:txBody>
          <a:bodyPr/>
          <a:lstStyle/>
          <a:p>
            <a:endParaRPr lang="en-US" dirty="0"/>
          </a:p>
        </p:txBody>
      </p:sp>
      <p:sp>
        <p:nvSpPr>
          <p:cNvPr id="15" name="Text 13"/>
          <p:cNvSpPr/>
          <p:nvPr/>
        </p:nvSpPr>
        <p:spPr>
          <a:xfrm>
            <a:off x="457200" y="2450592"/>
            <a:ext cx="4846320" cy="1865376"/>
          </a:xfrm>
          <a:prstGeom prst="rect">
            <a:avLst/>
          </a:prstGeom>
          <a:noFill/>
          <a:ln/>
        </p:spPr>
        <p:txBody>
          <a:bodyPr wrap="square" rtlCol="0" anchor="t"/>
          <a:lstStyle/>
          <a:p>
            <a:pPr marL="0" indent="0" algn="l">
              <a:buNone/>
            </a:pPr>
            <a:r>
              <a:rPr lang="en-US" sz="1300" i="1" dirty="0">
                <a:solidFill>
                  <a:srgbClr val="64748B"/>
                </a:solidFill>
                <a:latin typeface="Calibri" pitchFamily="34" charset="0"/>
                <a:ea typeface="Calibri" pitchFamily="34" charset="-122"/>
                <a:cs typeface="Calibri" pitchFamily="34" charset="-120"/>
              </a:rPr>
              <a:t>• Represents patients referred for cardiac stress testing</a:t>
            </a:r>
          </a:p>
          <a:p>
            <a:pPr marL="0" indent="0" algn="l">
              <a:buNone/>
            </a:pPr>
            <a:endParaRPr lang="en-US" sz="1300" dirty="0"/>
          </a:p>
          <a:p>
            <a:pPr marL="0" indent="0" algn="l">
              <a:buNone/>
            </a:pPr>
            <a:r>
              <a:rPr lang="en-US" sz="1300" i="1" dirty="0">
                <a:solidFill>
                  <a:srgbClr val="64748B"/>
                </a:solidFill>
                <a:latin typeface="Calibri" pitchFamily="34" charset="0"/>
                <a:ea typeface="Calibri" pitchFamily="34" charset="-122"/>
                <a:cs typeface="Calibri" pitchFamily="34" charset="-120"/>
              </a:rPr>
              <a:t>• Variables include demographic, clinical, and diagnostic measurements. </a:t>
            </a:r>
          </a:p>
          <a:p>
            <a:pPr marL="0" indent="0" algn="l">
              <a:buNone/>
            </a:pPr>
            <a:endParaRPr lang="en-US" sz="1300" dirty="0"/>
          </a:p>
          <a:p>
            <a:pPr marL="0" indent="0" algn="l">
              <a:buNone/>
            </a:pPr>
            <a:r>
              <a:rPr lang="en-US" sz="1300" i="1" dirty="0">
                <a:solidFill>
                  <a:srgbClr val="64748B"/>
                </a:solidFill>
                <a:latin typeface="Calibri" pitchFamily="34" charset="0"/>
                <a:ea typeface="Calibri" pitchFamily="34" charset="-122"/>
                <a:cs typeface="Calibri" pitchFamily="34" charset="-120"/>
              </a:rPr>
              <a:t>• 303 original rows, 6 rows with missing values removed</a:t>
            </a:r>
          </a:p>
          <a:p>
            <a:pPr marL="0" indent="0" algn="l">
              <a:buNone/>
            </a:pPr>
            <a:endParaRPr lang="en-US" sz="1300" i="1" dirty="0">
              <a:solidFill>
                <a:srgbClr val="64748B"/>
              </a:solidFill>
              <a:latin typeface="Calibri" pitchFamily="34" charset="0"/>
              <a:ea typeface="Calibri" pitchFamily="34" charset="-122"/>
              <a:cs typeface="Calibri" pitchFamily="34" charset="-120"/>
            </a:endParaRPr>
          </a:p>
          <a:p>
            <a:r>
              <a:rPr lang="en-US" sz="1300" i="1" dirty="0">
                <a:solidFill>
                  <a:srgbClr val="64748B"/>
                </a:solidFill>
                <a:latin typeface="Calibri" pitchFamily="34" charset="0"/>
                <a:ea typeface="Calibri" pitchFamily="34" charset="-122"/>
                <a:cs typeface="Calibri" pitchFamily="34" charset="-120"/>
              </a:rPr>
              <a:t>• Aging dataset</a:t>
            </a:r>
            <a:endParaRPr lang="en-US" sz="1300" dirty="0"/>
          </a:p>
        </p:txBody>
      </p:sp>
      <p:sp>
        <p:nvSpPr>
          <p:cNvPr id="16" name="Shape 14"/>
          <p:cNvSpPr/>
          <p:nvPr/>
        </p:nvSpPr>
        <p:spPr>
          <a:xfrm>
            <a:off x="5577840" y="2377440"/>
            <a:ext cx="3200400" cy="2011680"/>
          </a:xfrm>
          <a:prstGeom prst="rect">
            <a:avLst/>
          </a:prstGeom>
          <a:solidFill>
            <a:srgbClr val="FFF4EE"/>
          </a:solidFill>
          <a:ln w="19050">
            <a:solidFill>
              <a:srgbClr val="D55E00"/>
            </a:solidFill>
            <a:prstDash val="solid"/>
          </a:ln>
        </p:spPr>
        <p:txBody>
          <a:bodyPr/>
          <a:lstStyle/>
          <a:p>
            <a:endParaRPr lang="en-US"/>
          </a:p>
        </p:txBody>
      </p:sp>
      <p:sp>
        <p:nvSpPr>
          <p:cNvPr id="17" name="Text 15"/>
          <p:cNvSpPr/>
          <p:nvPr/>
        </p:nvSpPr>
        <p:spPr>
          <a:xfrm>
            <a:off x="5669280" y="2450592"/>
            <a:ext cx="3017520" cy="365760"/>
          </a:xfrm>
          <a:prstGeom prst="rect">
            <a:avLst/>
          </a:prstGeom>
          <a:noFill/>
          <a:ln/>
        </p:spPr>
        <p:txBody>
          <a:bodyPr wrap="square" rtlCol="0" anchor="ctr"/>
          <a:lstStyle/>
          <a:p>
            <a:pPr marL="0" indent="0" algn="l">
              <a:buNone/>
            </a:pPr>
            <a:r>
              <a:rPr lang="en-US" sz="1300" b="1" dirty="0">
                <a:solidFill>
                  <a:srgbClr val="D55E00"/>
                </a:solidFill>
                <a:latin typeface="Trebuchet MS" pitchFamily="34" charset="0"/>
                <a:ea typeface="Trebuchet MS" pitchFamily="34" charset="-122"/>
                <a:cs typeface="Trebuchet MS" pitchFamily="34" charset="-120"/>
              </a:rPr>
              <a:t>Response Variable</a:t>
            </a:r>
            <a:endParaRPr lang="en-US" sz="1300" dirty="0"/>
          </a:p>
        </p:txBody>
      </p:sp>
      <p:sp>
        <p:nvSpPr>
          <p:cNvPr id="18" name="Text 16"/>
          <p:cNvSpPr/>
          <p:nvPr/>
        </p:nvSpPr>
        <p:spPr>
          <a:xfrm>
            <a:off x="5669280" y="2738628"/>
            <a:ext cx="3017520" cy="1371600"/>
          </a:xfrm>
          <a:prstGeom prst="rect">
            <a:avLst/>
          </a:prstGeom>
          <a:noFill/>
          <a:ln/>
        </p:spPr>
        <p:txBody>
          <a:bodyPr wrap="square" rtlCol="0" anchor="t"/>
          <a:lstStyle/>
          <a:p>
            <a:pPr marL="0" indent="0" algn="l">
              <a:buNone/>
            </a:pPr>
            <a:r>
              <a:rPr lang="en-US" sz="1200" dirty="0">
                <a:solidFill>
                  <a:srgbClr val="36454F"/>
                </a:solidFill>
                <a:latin typeface="Calibri" pitchFamily="34" charset="0"/>
                <a:ea typeface="Calibri" pitchFamily="34" charset="-122"/>
                <a:cs typeface="Calibri" pitchFamily="34" charset="-120"/>
              </a:rPr>
              <a:t>CVD Present vs Absent</a:t>
            </a:r>
            <a:endParaRPr lang="en-US" sz="1200" dirty="0"/>
          </a:p>
          <a:p>
            <a:pPr marL="0" indent="0" algn="l">
              <a:buNone/>
            </a:pP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Binary outcome — 1 = CVD Present, 0 = No CVD</a:t>
            </a:r>
            <a:endParaRPr lang="en-US" sz="1200" dirty="0"/>
          </a:p>
          <a:p>
            <a:pPr marL="0" indent="0" algn="l">
              <a:buNone/>
            </a:pP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This outcome was chosen because it links directly to the decision – does this patient have CVD- does it require intervention?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2B2"/>
          </a:solidFill>
          <a:ln w="12700">
            <a:solidFill>
              <a:srgbClr val="0072B2"/>
            </a:solidFill>
            <a:prstDash val="solid"/>
          </a:ln>
        </p:spPr>
        <p:txBody>
          <a:bodyPr/>
          <a:lstStyle/>
          <a:p>
            <a:endParaRPr lang="en-US"/>
          </a:p>
        </p:txBody>
      </p:sp>
      <p:sp>
        <p:nvSpPr>
          <p:cNvPr id="3" name="Shape 1"/>
          <p:cNvSpPr/>
          <p:nvPr/>
        </p:nvSpPr>
        <p:spPr>
          <a:xfrm>
            <a:off x="0" y="5070348"/>
            <a:ext cx="9144000" cy="36576"/>
          </a:xfrm>
          <a:prstGeom prst="rect">
            <a:avLst/>
          </a:prstGeom>
          <a:solidFill>
            <a:srgbClr val="D55E00"/>
          </a:solidFill>
          <a:ln w="12700">
            <a:solidFill>
              <a:srgbClr val="D55E00"/>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0072B2"/>
                </a:solidFill>
                <a:latin typeface="Trebuchet MS" pitchFamily="34" charset="0"/>
                <a:ea typeface="Trebuchet MS" pitchFamily="34" charset="-122"/>
                <a:cs typeface="Trebuchet MS" pitchFamily="34" charset="-120"/>
              </a:rPr>
              <a:t>Data Preparation</a:t>
            </a:r>
            <a:endParaRPr lang="en-US" sz="2800" dirty="0"/>
          </a:p>
        </p:txBody>
      </p:sp>
      <p:sp>
        <p:nvSpPr>
          <p:cNvPr id="6" name="Shape 4"/>
          <p:cNvSpPr/>
          <p:nvPr/>
        </p:nvSpPr>
        <p:spPr>
          <a:xfrm>
            <a:off x="365760" y="914400"/>
            <a:ext cx="4023360" cy="3474720"/>
          </a:xfrm>
          <a:prstGeom prst="rect">
            <a:avLst/>
          </a:prstGeom>
          <a:solidFill>
            <a:srgbClr val="F4F8FC"/>
          </a:solidFill>
          <a:ln w="12700">
            <a:solidFill>
              <a:srgbClr val="C8DCEC"/>
            </a:solidFill>
            <a:prstDash val="solid"/>
          </a:ln>
        </p:spPr>
        <p:txBody>
          <a:bodyPr/>
          <a:lstStyle/>
          <a:p>
            <a:endParaRPr lang="en-US"/>
          </a:p>
        </p:txBody>
      </p:sp>
      <p:sp>
        <p:nvSpPr>
          <p:cNvPr id="7" name="Text 5"/>
          <p:cNvSpPr/>
          <p:nvPr/>
        </p:nvSpPr>
        <p:spPr>
          <a:xfrm>
            <a:off x="457200" y="987552"/>
            <a:ext cx="3840480" cy="365760"/>
          </a:xfrm>
          <a:prstGeom prst="rect">
            <a:avLst/>
          </a:prstGeom>
          <a:noFill/>
          <a:ln/>
        </p:spPr>
        <p:txBody>
          <a:bodyPr wrap="square" rtlCol="0" anchor="ctr"/>
          <a:lstStyle/>
          <a:p>
            <a:pPr marL="0" indent="0" algn="l">
              <a:buNone/>
            </a:pPr>
            <a:r>
              <a:rPr lang="en-US" sz="1400" b="1" dirty="0">
                <a:solidFill>
                  <a:srgbClr val="0072B2"/>
                </a:solidFill>
                <a:latin typeface="Trebuchet MS" pitchFamily="34" charset="0"/>
                <a:ea typeface="Trebuchet MS" pitchFamily="34" charset="-122"/>
                <a:cs typeface="Trebuchet MS" pitchFamily="34" charset="-120"/>
              </a:rPr>
              <a:t>Cleaning &amp; Preprocessing</a:t>
            </a:r>
            <a:endParaRPr lang="en-US" sz="1400" dirty="0"/>
          </a:p>
        </p:txBody>
      </p:sp>
      <p:sp>
        <p:nvSpPr>
          <p:cNvPr id="8" name="Text 6"/>
          <p:cNvSpPr/>
          <p:nvPr/>
        </p:nvSpPr>
        <p:spPr>
          <a:xfrm>
            <a:off x="457200" y="1417320"/>
            <a:ext cx="3840480" cy="2834640"/>
          </a:xfrm>
          <a:prstGeom prst="rect">
            <a:avLst/>
          </a:prstGeom>
          <a:noFill/>
          <a:ln/>
        </p:spPr>
        <p:txBody>
          <a:bodyPr wrap="square" rtlCol="0" anchor="t"/>
          <a:lstStyle/>
          <a:p>
            <a:pPr marL="0" indent="0" algn="l">
              <a:buNone/>
            </a:pPr>
            <a:r>
              <a:rPr lang="en-US" sz="1200" dirty="0">
                <a:solidFill>
                  <a:srgbClr val="36454F"/>
                </a:solidFill>
                <a:latin typeface="Calibri" pitchFamily="34" charset="0"/>
                <a:ea typeface="Calibri" pitchFamily="34" charset="-122"/>
                <a:cs typeface="Calibri" pitchFamily="34" charset="-120"/>
              </a:rPr>
              <a:t>• 6 rows removed (MCAR confirmed)</a:t>
            </a: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72/28 stratified train/test split</a:t>
            </a: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One-hot encoding for nominal variables</a:t>
            </a: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Box-Cox transformation (chol, oldpeak)</a:t>
            </a: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StandardScaler on continuous variables</a:t>
            </a: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CSL selected over SMOTE</a:t>
            </a: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Final dataset: 297 patients, 16 features</a:t>
            </a:r>
            <a:endParaRPr lang="en-US" sz="1200" dirty="0"/>
          </a:p>
        </p:txBody>
      </p:sp>
      <p:sp>
        <p:nvSpPr>
          <p:cNvPr id="9" name="Shape 7"/>
          <p:cNvSpPr/>
          <p:nvPr/>
        </p:nvSpPr>
        <p:spPr>
          <a:xfrm>
            <a:off x="4572000" y="914400"/>
            <a:ext cx="4114800" cy="3474720"/>
          </a:xfrm>
          <a:prstGeom prst="rect">
            <a:avLst/>
          </a:prstGeom>
          <a:solidFill>
            <a:srgbClr val="F4F8FC"/>
          </a:solidFill>
          <a:ln w="12700">
            <a:solidFill>
              <a:srgbClr val="C8DCEC"/>
            </a:solidFill>
            <a:prstDash val="solid"/>
          </a:ln>
        </p:spPr>
        <p:txBody>
          <a:bodyPr/>
          <a:lstStyle/>
          <a:p>
            <a:endParaRPr lang="en-US"/>
          </a:p>
        </p:txBody>
      </p:sp>
      <p:sp>
        <p:nvSpPr>
          <p:cNvPr id="10" name="Text 8"/>
          <p:cNvSpPr/>
          <p:nvPr/>
        </p:nvSpPr>
        <p:spPr>
          <a:xfrm>
            <a:off x="4754880" y="987552"/>
            <a:ext cx="3931920" cy="3328416"/>
          </a:xfrm>
          <a:prstGeom prst="rect">
            <a:avLst/>
          </a:prstGeom>
          <a:noFill/>
          <a:ln/>
        </p:spPr>
        <p:txBody>
          <a:bodyPr wrap="square" rtlCol="0" anchor="t"/>
          <a:lstStyle/>
          <a:p>
            <a:pPr marL="0" indent="0" algn="l">
              <a:buNone/>
            </a:pPr>
            <a:endParaRPr lang="en-US" sz="1300" dirty="0"/>
          </a:p>
        </p:txBody>
      </p:sp>
      <p:pic>
        <p:nvPicPr>
          <p:cNvPr id="12" name="Picture 11">
            <a:extLst>
              <a:ext uri="{FF2B5EF4-FFF2-40B4-BE49-F238E27FC236}">
                <a16:creationId xmlns:a16="http://schemas.microsoft.com/office/drawing/2014/main" id="{F9E6580A-DC15-ECBE-936F-65621B82A5DC}"/>
              </a:ext>
            </a:extLst>
          </p:cNvPr>
          <p:cNvPicPr>
            <a:picLocks noChangeAspect="1"/>
          </p:cNvPicPr>
          <p:nvPr/>
        </p:nvPicPr>
        <p:blipFill>
          <a:blip r:embed="rId3"/>
          <a:stretch>
            <a:fillRect/>
          </a:stretch>
        </p:blipFill>
        <p:spPr>
          <a:xfrm>
            <a:off x="4617719" y="1238796"/>
            <a:ext cx="4023361" cy="28469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2B2"/>
          </a:solidFill>
          <a:ln w="12700">
            <a:solidFill>
              <a:srgbClr val="0072B2"/>
            </a:solidFill>
            <a:prstDash val="solid"/>
          </a:ln>
        </p:spPr>
        <p:txBody>
          <a:bodyPr/>
          <a:lstStyle/>
          <a:p>
            <a:endParaRPr lang="en-US"/>
          </a:p>
        </p:txBody>
      </p:sp>
      <p:sp>
        <p:nvSpPr>
          <p:cNvPr id="3" name="Shape 1"/>
          <p:cNvSpPr/>
          <p:nvPr/>
        </p:nvSpPr>
        <p:spPr>
          <a:xfrm>
            <a:off x="0" y="5070348"/>
            <a:ext cx="9144000" cy="36576"/>
          </a:xfrm>
          <a:prstGeom prst="rect">
            <a:avLst/>
          </a:prstGeom>
          <a:solidFill>
            <a:srgbClr val="D55E00"/>
          </a:solidFill>
          <a:ln w="12700">
            <a:solidFill>
              <a:srgbClr val="D55E00"/>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0072B2"/>
                </a:solidFill>
                <a:latin typeface="Trebuchet MS" pitchFamily="34" charset="0"/>
                <a:ea typeface="Trebuchet MS" pitchFamily="34" charset="-122"/>
                <a:cs typeface="Trebuchet MS" pitchFamily="34" charset="-120"/>
              </a:rPr>
              <a:t>Clinical Feature Engineering: st_severity</a:t>
            </a:r>
            <a:endParaRPr lang="en-US" sz="2800" dirty="0"/>
          </a:p>
        </p:txBody>
      </p:sp>
      <p:sp>
        <p:nvSpPr>
          <p:cNvPr id="6" name="Shape 4"/>
          <p:cNvSpPr/>
          <p:nvPr/>
        </p:nvSpPr>
        <p:spPr>
          <a:xfrm>
            <a:off x="365760" y="914400"/>
            <a:ext cx="4023360" cy="3474720"/>
          </a:xfrm>
          <a:prstGeom prst="rect">
            <a:avLst/>
          </a:prstGeom>
          <a:solidFill>
            <a:srgbClr val="F4F8FC"/>
          </a:solidFill>
          <a:ln w="12700">
            <a:solidFill>
              <a:srgbClr val="C8DCEC"/>
            </a:solidFill>
            <a:prstDash val="solid"/>
          </a:ln>
        </p:spPr>
        <p:txBody>
          <a:bodyPr/>
          <a:lstStyle/>
          <a:p>
            <a:endParaRPr lang="en-US"/>
          </a:p>
        </p:txBody>
      </p:sp>
      <p:sp>
        <p:nvSpPr>
          <p:cNvPr id="7" name="Text 5"/>
          <p:cNvSpPr/>
          <p:nvPr/>
        </p:nvSpPr>
        <p:spPr>
          <a:xfrm>
            <a:off x="457200" y="987552"/>
            <a:ext cx="3840480" cy="365760"/>
          </a:xfrm>
          <a:prstGeom prst="rect">
            <a:avLst/>
          </a:prstGeom>
          <a:noFill/>
          <a:ln/>
        </p:spPr>
        <p:txBody>
          <a:bodyPr wrap="square" rtlCol="0" anchor="ctr"/>
          <a:lstStyle/>
          <a:p>
            <a:pPr marL="0" indent="0" algn="l">
              <a:buNone/>
            </a:pPr>
            <a:r>
              <a:rPr lang="en-US" sz="1400" b="1" dirty="0">
                <a:solidFill>
                  <a:srgbClr val="0072B2"/>
                </a:solidFill>
                <a:latin typeface="Trebuchet MS" pitchFamily="34" charset="0"/>
                <a:ea typeface="Trebuchet MS" pitchFamily="34" charset="-122"/>
                <a:cs typeface="Trebuchet MS" pitchFamily="34" charset="-120"/>
              </a:rPr>
              <a:t>Why We Built st_severity</a:t>
            </a:r>
            <a:endParaRPr lang="en-US" sz="1400" dirty="0"/>
          </a:p>
        </p:txBody>
      </p:sp>
      <p:sp>
        <p:nvSpPr>
          <p:cNvPr id="8" name="Text 6"/>
          <p:cNvSpPr/>
          <p:nvPr/>
        </p:nvSpPr>
        <p:spPr>
          <a:xfrm>
            <a:off x="457200" y="1417320"/>
            <a:ext cx="3840480" cy="2834640"/>
          </a:xfrm>
          <a:prstGeom prst="rect">
            <a:avLst/>
          </a:prstGeom>
          <a:noFill/>
          <a:ln/>
        </p:spPr>
        <p:txBody>
          <a:bodyPr wrap="square" rtlCol="0" anchor="t"/>
          <a:lstStyle/>
          <a:p>
            <a:pPr marL="0" indent="0" algn="l">
              <a:buNone/>
            </a:pPr>
            <a:r>
              <a:rPr lang="en-US" sz="1200" dirty="0">
                <a:solidFill>
                  <a:srgbClr val="36454F"/>
                </a:solidFill>
                <a:latin typeface="Calibri" pitchFamily="34" charset="0"/>
                <a:ea typeface="Calibri" pitchFamily="34" charset="-122"/>
                <a:cs typeface="Calibri" pitchFamily="34" charset="-120"/>
              </a:rPr>
              <a:t>oldpeak alone was zero-inflated and non-normal</a:t>
            </a:r>
            <a:endParaRPr lang="en-US" sz="1200" dirty="0"/>
          </a:p>
          <a:p>
            <a:pPr marL="0" indent="0" algn="l">
              <a:buNone/>
            </a:pP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Combined oldpeak + slope into a single clinically meaningful severity score</a:t>
            </a:r>
            <a:endParaRPr lang="en-US" sz="1200" dirty="0"/>
          </a:p>
          <a:p>
            <a:pPr marL="0" indent="0" algn="l">
              <a:buNone/>
            </a:pP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Based on ACC/AHA Exercise Testing Guidelines (Gibbons 1997, 2002)</a:t>
            </a:r>
            <a:endParaRPr lang="en-US" sz="1200" dirty="0"/>
          </a:p>
          <a:p>
            <a:pPr marL="0" indent="0" algn="l">
              <a:buNone/>
            </a:pP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Validated: CVD prevalence increases monotonically across severity categories</a:t>
            </a:r>
            <a:endParaRPr lang="en-US" sz="1200" dirty="0"/>
          </a:p>
        </p:txBody>
      </p:sp>
      <p:sp>
        <p:nvSpPr>
          <p:cNvPr id="10" name="Text 8"/>
          <p:cNvSpPr/>
          <p:nvPr/>
        </p:nvSpPr>
        <p:spPr>
          <a:xfrm>
            <a:off x="4754880" y="987552"/>
            <a:ext cx="3931920" cy="3328416"/>
          </a:xfrm>
          <a:prstGeom prst="rect">
            <a:avLst/>
          </a:prstGeom>
          <a:noFill/>
          <a:ln/>
        </p:spPr>
        <p:txBody>
          <a:bodyPr wrap="square" rtlCol="0" anchor="t"/>
          <a:lstStyle/>
          <a:p>
            <a:pPr marL="0" indent="0" algn="l">
              <a:buNone/>
            </a:pPr>
            <a:endParaRPr lang="en-US" sz="1300" dirty="0"/>
          </a:p>
        </p:txBody>
      </p:sp>
      <p:pic>
        <p:nvPicPr>
          <p:cNvPr id="12" name="Picture 11">
            <a:extLst>
              <a:ext uri="{FF2B5EF4-FFF2-40B4-BE49-F238E27FC236}">
                <a16:creationId xmlns:a16="http://schemas.microsoft.com/office/drawing/2014/main" id="{F28E3319-9BD4-3E1B-341E-1EB4BC12CEBF}"/>
              </a:ext>
            </a:extLst>
          </p:cNvPr>
          <p:cNvPicPr>
            <a:picLocks noChangeAspect="1"/>
          </p:cNvPicPr>
          <p:nvPr/>
        </p:nvPicPr>
        <p:blipFill>
          <a:blip r:embed="rId3"/>
          <a:stretch>
            <a:fillRect/>
          </a:stretch>
        </p:blipFill>
        <p:spPr>
          <a:xfrm>
            <a:off x="4890913" y="754380"/>
            <a:ext cx="3815875" cy="39136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2B2"/>
          </a:solidFill>
          <a:ln w="12700">
            <a:solidFill>
              <a:srgbClr val="0072B2"/>
            </a:solidFill>
            <a:prstDash val="solid"/>
          </a:ln>
        </p:spPr>
        <p:txBody>
          <a:bodyPr/>
          <a:lstStyle/>
          <a:p>
            <a:endParaRPr lang="en-US"/>
          </a:p>
        </p:txBody>
      </p:sp>
      <p:sp>
        <p:nvSpPr>
          <p:cNvPr id="3" name="Shape 1"/>
          <p:cNvSpPr/>
          <p:nvPr/>
        </p:nvSpPr>
        <p:spPr>
          <a:xfrm>
            <a:off x="0" y="5070348"/>
            <a:ext cx="9144000" cy="36576"/>
          </a:xfrm>
          <a:prstGeom prst="rect">
            <a:avLst/>
          </a:prstGeom>
          <a:solidFill>
            <a:srgbClr val="D55E00"/>
          </a:solidFill>
          <a:ln w="12700">
            <a:solidFill>
              <a:srgbClr val="D55E00"/>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0072B2"/>
                </a:solidFill>
                <a:latin typeface="Trebuchet MS" pitchFamily="34" charset="0"/>
                <a:ea typeface="Trebuchet MS" pitchFamily="34" charset="-122"/>
                <a:cs typeface="Trebuchet MS" pitchFamily="34" charset="-120"/>
              </a:rPr>
              <a:t>Our Modeling Approach</a:t>
            </a:r>
            <a:endParaRPr lang="en-US" sz="2800" dirty="0"/>
          </a:p>
        </p:txBody>
      </p:sp>
      <p:sp>
        <p:nvSpPr>
          <p:cNvPr id="6" name="Shape 4"/>
          <p:cNvSpPr/>
          <p:nvPr/>
        </p:nvSpPr>
        <p:spPr>
          <a:xfrm>
            <a:off x="365760" y="1005840"/>
            <a:ext cx="1920240" cy="914400"/>
          </a:xfrm>
          <a:prstGeom prst="rect">
            <a:avLst/>
          </a:prstGeom>
          <a:solidFill>
            <a:srgbClr val="0072B2"/>
          </a:solidFill>
          <a:ln w="12700">
            <a:solidFill>
              <a:srgbClr val="0072B2"/>
            </a:solidFill>
            <a:prstDash val="solid"/>
          </a:ln>
        </p:spPr>
        <p:txBody>
          <a:bodyPr/>
          <a:lstStyle/>
          <a:p>
            <a:endParaRPr lang="en-US"/>
          </a:p>
        </p:txBody>
      </p:sp>
      <p:sp>
        <p:nvSpPr>
          <p:cNvPr id="7" name="Text 5"/>
          <p:cNvSpPr/>
          <p:nvPr/>
        </p:nvSpPr>
        <p:spPr>
          <a:xfrm>
            <a:off x="411480" y="1024128"/>
            <a:ext cx="1828800" cy="877824"/>
          </a:xfrm>
          <a:prstGeom prst="rect">
            <a:avLst/>
          </a:prstGeom>
          <a:noFill/>
          <a:ln/>
        </p:spPr>
        <p:txBody>
          <a:bodyPr wrap="square"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Logistic</a:t>
            </a:r>
            <a:endParaRPr lang="en-US" sz="1300" dirty="0"/>
          </a:p>
          <a:p>
            <a:pPr marL="0" indent="0" algn="ctr">
              <a:buNone/>
            </a:pPr>
            <a:r>
              <a:rPr lang="en-US" sz="1300" b="1" dirty="0">
                <a:solidFill>
                  <a:srgbClr val="FFFFFF"/>
                </a:solidFill>
                <a:latin typeface="Trebuchet MS" pitchFamily="34" charset="0"/>
                <a:ea typeface="Trebuchet MS" pitchFamily="34" charset="-122"/>
                <a:cs typeface="Trebuchet MS" pitchFamily="34" charset="-120"/>
              </a:rPr>
              <a:t>Regression</a:t>
            </a:r>
            <a:endParaRPr lang="en-US" sz="1300" dirty="0"/>
          </a:p>
        </p:txBody>
      </p:sp>
      <p:sp>
        <p:nvSpPr>
          <p:cNvPr id="8" name="Shape 6"/>
          <p:cNvSpPr/>
          <p:nvPr/>
        </p:nvSpPr>
        <p:spPr>
          <a:xfrm>
            <a:off x="365760" y="1965960"/>
            <a:ext cx="1920240" cy="1371600"/>
          </a:xfrm>
          <a:prstGeom prst="rect">
            <a:avLst/>
          </a:prstGeom>
          <a:solidFill>
            <a:srgbClr val="F4F8FC"/>
          </a:solidFill>
          <a:ln w="12700">
            <a:solidFill>
              <a:srgbClr val="C8DCEC"/>
            </a:solidFill>
            <a:prstDash val="solid"/>
          </a:ln>
        </p:spPr>
        <p:txBody>
          <a:bodyPr/>
          <a:lstStyle/>
          <a:p>
            <a:endParaRPr lang="en-US"/>
          </a:p>
        </p:txBody>
      </p:sp>
      <p:sp>
        <p:nvSpPr>
          <p:cNvPr id="9" name="Text 7"/>
          <p:cNvSpPr/>
          <p:nvPr/>
        </p:nvSpPr>
        <p:spPr>
          <a:xfrm>
            <a:off x="457200" y="2011680"/>
            <a:ext cx="1737360" cy="1280160"/>
          </a:xfrm>
          <a:prstGeom prst="rect">
            <a:avLst/>
          </a:prstGeom>
          <a:noFill/>
          <a:ln/>
        </p:spPr>
        <p:txBody>
          <a:bodyPr wrap="square" rtlCol="0" anchor="t"/>
          <a:lstStyle/>
          <a:p>
            <a:pPr marL="0" indent="0" algn="l">
              <a:buNone/>
            </a:pPr>
            <a:r>
              <a:rPr lang="en-US" sz="1100" dirty="0">
                <a:solidFill>
                  <a:srgbClr val="36454F"/>
                </a:solidFill>
                <a:latin typeface="Calibri" pitchFamily="34" charset="0"/>
                <a:ea typeface="Calibri" pitchFamily="34" charset="-122"/>
                <a:cs typeface="Calibri" pitchFamily="34" charset="-120"/>
              </a:rPr>
              <a:t>Interpretable baseline</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Linear classifier</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Established clinical standard</a:t>
            </a:r>
            <a:endParaRPr lang="en-US" sz="1100" dirty="0"/>
          </a:p>
        </p:txBody>
      </p:sp>
      <p:sp>
        <p:nvSpPr>
          <p:cNvPr id="10" name="Shape 8"/>
          <p:cNvSpPr/>
          <p:nvPr/>
        </p:nvSpPr>
        <p:spPr>
          <a:xfrm>
            <a:off x="2423160" y="1005840"/>
            <a:ext cx="1920240" cy="914400"/>
          </a:xfrm>
          <a:prstGeom prst="rect">
            <a:avLst/>
          </a:prstGeom>
          <a:solidFill>
            <a:srgbClr val="0072B2"/>
          </a:solidFill>
          <a:ln w="12700">
            <a:solidFill>
              <a:srgbClr val="0072B2"/>
            </a:solidFill>
            <a:prstDash val="solid"/>
          </a:ln>
        </p:spPr>
        <p:txBody>
          <a:bodyPr/>
          <a:lstStyle/>
          <a:p>
            <a:endParaRPr lang="en-US"/>
          </a:p>
        </p:txBody>
      </p:sp>
      <p:sp>
        <p:nvSpPr>
          <p:cNvPr id="11" name="Text 9"/>
          <p:cNvSpPr/>
          <p:nvPr/>
        </p:nvSpPr>
        <p:spPr>
          <a:xfrm>
            <a:off x="2468880" y="1024128"/>
            <a:ext cx="1828800" cy="877824"/>
          </a:xfrm>
          <a:prstGeom prst="rect">
            <a:avLst/>
          </a:prstGeom>
          <a:noFill/>
          <a:ln/>
        </p:spPr>
        <p:txBody>
          <a:bodyPr wrap="square"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Random</a:t>
            </a:r>
            <a:endParaRPr lang="en-US" sz="1300" dirty="0"/>
          </a:p>
          <a:p>
            <a:pPr marL="0" indent="0" algn="ctr">
              <a:buNone/>
            </a:pPr>
            <a:r>
              <a:rPr lang="en-US" sz="1300" b="1" dirty="0">
                <a:solidFill>
                  <a:srgbClr val="FFFFFF"/>
                </a:solidFill>
                <a:latin typeface="Trebuchet MS" pitchFamily="34" charset="0"/>
                <a:ea typeface="Trebuchet MS" pitchFamily="34" charset="-122"/>
                <a:cs typeface="Trebuchet MS" pitchFamily="34" charset="-120"/>
              </a:rPr>
              <a:t>Forest</a:t>
            </a:r>
            <a:endParaRPr lang="en-US" sz="1300" dirty="0"/>
          </a:p>
        </p:txBody>
      </p:sp>
      <p:sp>
        <p:nvSpPr>
          <p:cNvPr id="12" name="Shape 10"/>
          <p:cNvSpPr/>
          <p:nvPr/>
        </p:nvSpPr>
        <p:spPr>
          <a:xfrm>
            <a:off x="2423160" y="1965960"/>
            <a:ext cx="1920240" cy="1371600"/>
          </a:xfrm>
          <a:prstGeom prst="rect">
            <a:avLst/>
          </a:prstGeom>
          <a:solidFill>
            <a:srgbClr val="F4F8FC"/>
          </a:solidFill>
          <a:ln w="12700">
            <a:solidFill>
              <a:srgbClr val="C8DCEC"/>
            </a:solidFill>
            <a:prstDash val="solid"/>
          </a:ln>
        </p:spPr>
        <p:txBody>
          <a:bodyPr/>
          <a:lstStyle/>
          <a:p>
            <a:endParaRPr lang="en-US"/>
          </a:p>
        </p:txBody>
      </p:sp>
      <p:sp>
        <p:nvSpPr>
          <p:cNvPr id="13" name="Text 11"/>
          <p:cNvSpPr/>
          <p:nvPr/>
        </p:nvSpPr>
        <p:spPr>
          <a:xfrm>
            <a:off x="2514600" y="2011680"/>
            <a:ext cx="1737360" cy="1280160"/>
          </a:xfrm>
          <a:prstGeom prst="rect">
            <a:avLst/>
          </a:prstGeom>
          <a:noFill/>
          <a:ln/>
        </p:spPr>
        <p:txBody>
          <a:bodyPr wrap="square" rtlCol="0" anchor="t"/>
          <a:lstStyle/>
          <a:p>
            <a:pPr marL="0" indent="0" algn="l">
              <a:buNone/>
            </a:pPr>
            <a:r>
              <a:rPr lang="en-US" sz="1100" dirty="0">
                <a:solidFill>
                  <a:srgbClr val="36454F"/>
                </a:solidFill>
                <a:latin typeface="Calibri" pitchFamily="34" charset="0"/>
                <a:ea typeface="Calibri" pitchFamily="34" charset="-122"/>
                <a:cs typeface="Calibri" pitchFamily="34" charset="-120"/>
              </a:rPr>
              <a:t>Ensemble method</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Non-linear relationships</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Feature importance</a:t>
            </a:r>
            <a:endParaRPr lang="en-US" sz="1100" dirty="0"/>
          </a:p>
        </p:txBody>
      </p:sp>
      <p:sp>
        <p:nvSpPr>
          <p:cNvPr id="14" name="Shape 12"/>
          <p:cNvSpPr/>
          <p:nvPr/>
        </p:nvSpPr>
        <p:spPr>
          <a:xfrm>
            <a:off x="4480560" y="1005840"/>
            <a:ext cx="1920240" cy="914400"/>
          </a:xfrm>
          <a:prstGeom prst="rect">
            <a:avLst/>
          </a:prstGeom>
          <a:solidFill>
            <a:srgbClr val="0072B2"/>
          </a:solidFill>
          <a:ln w="12700">
            <a:solidFill>
              <a:srgbClr val="0072B2"/>
            </a:solidFill>
            <a:prstDash val="solid"/>
          </a:ln>
        </p:spPr>
        <p:txBody>
          <a:bodyPr/>
          <a:lstStyle/>
          <a:p>
            <a:endParaRPr lang="en-US"/>
          </a:p>
        </p:txBody>
      </p:sp>
      <p:sp>
        <p:nvSpPr>
          <p:cNvPr id="15" name="Text 13"/>
          <p:cNvSpPr/>
          <p:nvPr/>
        </p:nvSpPr>
        <p:spPr>
          <a:xfrm>
            <a:off x="4526280" y="1024128"/>
            <a:ext cx="1828800" cy="877824"/>
          </a:xfrm>
          <a:prstGeom prst="rect">
            <a:avLst/>
          </a:prstGeom>
          <a:noFill/>
          <a:ln/>
        </p:spPr>
        <p:txBody>
          <a:bodyPr wrap="square"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XGBoost</a:t>
            </a:r>
            <a:endParaRPr lang="en-US" sz="1300" dirty="0"/>
          </a:p>
        </p:txBody>
      </p:sp>
      <p:sp>
        <p:nvSpPr>
          <p:cNvPr id="16" name="Shape 14"/>
          <p:cNvSpPr/>
          <p:nvPr/>
        </p:nvSpPr>
        <p:spPr>
          <a:xfrm>
            <a:off x="4480560" y="1965960"/>
            <a:ext cx="1920240" cy="1371600"/>
          </a:xfrm>
          <a:prstGeom prst="rect">
            <a:avLst/>
          </a:prstGeom>
          <a:solidFill>
            <a:srgbClr val="F4F8FC"/>
          </a:solidFill>
          <a:ln w="12700">
            <a:solidFill>
              <a:srgbClr val="C8DCEC"/>
            </a:solidFill>
            <a:prstDash val="solid"/>
          </a:ln>
        </p:spPr>
        <p:txBody>
          <a:bodyPr/>
          <a:lstStyle/>
          <a:p>
            <a:endParaRPr lang="en-US"/>
          </a:p>
        </p:txBody>
      </p:sp>
      <p:sp>
        <p:nvSpPr>
          <p:cNvPr id="17" name="Text 15"/>
          <p:cNvSpPr/>
          <p:nvPr/>
        </p:nvSpPr>
        <p:spPr>
          <a:xfrm>
            <a:off x="4572000" y="2011680"/>
            <a:ext cx="1737360" cy="1280160"/>
          </a:xfrm>
          <a:prstGeom prst="rect">
            <a:avLst/>
          </a:prstGeom>
          <a:noFill/>
          <a:ln/>
        </p:spPr>
        <p:txBody>
          <a:bodyPr wrap="square" rtlCol="0" anchor="t"/>
          <a:lstStyle/>
          <a:p>
            <a:pPr marL="0" indent="0" algn="l">
              <a:buNone/>
            </a:pPr>
            <a:r>
              <a:rPr lang="en-US" sz="1100" dirty="0">
                <a:solidFill>
                  <a:srgbClr val="36454F"/>
                </a:solidFill>
                <a:latin typeface="Calibri" pitchFamily="34" charset="0"/>
                <a:ea typeface="Calibri" pitchFamily="34" charset="-122"/>
                <a:cs typeface="Calibri" pitchFamily="34" charset="-120"/>
              </a:rPr>
              <a:t>High performance</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Gradient boosting</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2-round tuning</a:t>
            </a:r>
            <a:endParaRPr lang="en-US" sz="1100" dirty="0"/>
          </a:p>
        </p:txBody>
      </p:sp>
      <p:sp>
        <p:nvSpPr>
          <p:cNvPr id="18" name="Shape 16"/>
          <p:cNvSpPr/>
          <p:nvPr/>
        </p:nvSpPr>
        <p:spPr>
          <a:xfrm>
            <a:off x="6537960" y="1005840"/>
            <a:ext cx="1920240" cy="914400"/>
          </a:xfrm>
          <a:prstGeom prst="rect">
            <a:avLst/>
          </a:prstGeom>
          <a:solidFill>
            <a:srgbClr val="0072B2"/>
          </a:solidFill>
          <a:ln w="12700">
            <a:solidFill>
              <a:srgbClr val="0072B2"/>
            </a:solidFill>
            <a:prstDash val="solid"/>
          </a:ln>
        </p:spPr>
        <p:txBody>
          <a:bodyPr/>
          <a:lstStyle/>
          <a:p>
            <a:endParaRPr lang="en-US"/>
          </a:p>
        </p:txBody>
      </p:sp>
      <p:sp>
        <p:nvSpPr>
          <p:cNvPr id="19" name="Text 17"/>
          <p:cNvSpPr/>
          <p:nvPr/>
        </p:nvSpPr>
        <p:spPr>
          <a:xfrm>
            <a:off x="6583680" y="1024128"/>
            <a:ext cx="1828800" cy="877824"/>
          </a:xfrm>
          <a:prstGeom prst="rect">
            <a:avLst/>
          </a:prstGeom>
          <a:noFill/>
          <a:ln/>
        </p:spPr>
        <p:txBody>
          <a:bodyPr wrap="square"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Support Vector</a:t>
            </a:r>
            <a:endParaRPr lang="en-US" sz="1300" dirty="0"/>
          </a:p>
          <a:p>
            <a:pPr marL="0" indent="0" algn="ctr">
              <a:buNone/>
            </a:pPr>
            <a:r>
              <a:rPr lang="en-US" sz="1300" b="1" dirty="0">
                <a:solidFill>
                  <a:srgbClr val="FFFFFF"/>
                </a:solidFill>
                <a:latin typeface="Trebuchet MS" pitchFamily="34" charset="0"/>
                <a:ea typeface="Trebuchet MS" pitchFamily="34" charset="-122"/>
                <a:cs typeface="Trebuchet MS" pitchFamily="34" charset="-120"/>
              </a:rPr>
              <a:t>Machine</a:t>
            </a:r>
            <a:endParaRPr lang="en-US" sz="1300" dirty="0"/>
          </a:p>
        </p:txBody>
      </p:sp>
      <p:sp>
        <p:nvSpPr>
          <p:cNvPr id="20" name="Shape 18"/>
          <p:cNvSpPr/>
          <p:nvPr/>
        </p:nvSpPr>
        <p:spPr>
          <a:xfrm>
            <a:off x="6537960" y="1965960"/>
            <a:ext cx="1920240" cy="1371600"/>
          </a:xfrm>
          <a:prstGeom prst="rect">
            <a:avLst/>
          </a:prstGeom>
          <a:solidFill>
            <a:srgbClr val="F4F8FC"/>
          </a:solidFill>
          <a:ln w="12700">
            <a:solidFill>
              <a:srgbClr val="C8DCEC"/>
            </a:solidFill>
            <a:prstDash val="solid"/>
          </a:ln>
        </p:spPr>
        <p:txBody>
          <a:bodyPr/>
          <a:lstStyle/>
          <a:p>
            <a:endParaRPr lang="en-US"/>
          </a:p>
        </p:txBody>
      </p:sp>
      <p:sp>
        <p:nvSpPr>
          <p:cNvPr id="21" name="Text 19"/>
          <p:cNvSpPr/>
          <p:nvPr/>
        </p:nvSpPr>
        <p:spPr>
          <a:xfrm>
            <a:off x="6629400" y="2011680"/>
            <a:ext cx="1737360" cy="1280160"/>
          </a:xfrm>
          <a:prstGeom prst="rect">
            <a:avLst/>
          </a:prstGeom>
          <a:noFill/>
          <a:ln/>
        </p:spPr>
        <p:txBody>
          <a:bodyPr wrap="square" rtlCol="0" anchor="t"/>
          <a:lstStyle/>
          <a:p>
            <a:pPr marL="0" indent="0" algn="l">
              <a:buNone/>
            </a:pPr>
            <a:r>
              <a:rPr lang="en-US" sz="1100" dirty="0">
                <a:solidFill>
                  <a:srgbClr val="36454F"/>
                </a:solidFill>
                <a:latin typeface="Calibri" pitchFamily="34" charset="0"/>
                <a:ea typeface="Calibri" pitchFamily="34" charset="-122"/>
                <a:cs typeface="Calibri" pitchFamily="34" charset="-120"/>
              </a:rPr>
              <a:t>Useful in small datasets</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Margin maximization</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Linear + RBF kernels</a:t>
            </a:r>
            <a:endParaRPr lang="en-US" sz="1100" dirty="0"/>
          </a:p>
        </p:txBody>
      </p:sp>
      <p:sp>
        <p:nvSpPr>
          <p:cNvPr id="22" name="Shape 20"/>
          <p:cNvSpPr/>
          <p:nvPr/>
        </p:nvSpPr>
        <p:spPr>
          <a:xfrm>
            <a:off x="365760" y="3520440"/>
            <a:ext cx="8229600" cy="868680"/>
          </a:xfrm>
          <a:prstGeom prst="rect">
            <a:avLst/>
          </a:prstGeom>
          <a:solidFill>
            <a:srgbClr val="FFF4EE"/>
          </a:solidFill>
          <a:ln w="12700">
            <a:solidFill>
              <a:srgbClr val="D55E00"/>
            </a:solidFill>
            <a:prstDash val="solid"/>
          </a:ln>
        </p:spPr>
        <p:txBody>
          <a:bodyPr/>
          <a:lstStyle/>
          <a:p>
            <a:endParaRPr lang="en-US"/>
          </a:p>
        </p:txBody>
      </p:sp>
      <p:sp>
        <p:nvSpPr>
          <p:cNvPr id="23" name="Text 21"/>
          <p:cNvSpPr/>
          <p:nvPr/>
        </p:nvSpPr>
        <p:spPr>
          <a:xfrm>
            <a:off x="502920" y="3584448"/>
            <a:ext cx="8138160" cy="685800"/>
          </a:xfrm>
          <a:prstGeom prst="rect">
            <a:avLst/>
          </a:prstGeom>
          <a:noFill/>
          <a:ln/>
        </p:spPr>
        <p:txBody>
          <a:bodyPr wrap="square" rtlCol="0" anchor="ctr"/>
          <a:lstStyle/>
          <a:p>
            <a:pPr marL="0" indent="0" algn="ctr">
              <a:buNone/>
            </a:pPr>
            <a:r>
              <a:rPr lang="en-US" sz="1200" dirty="0">
                <a:solidFill>
                  <a:srgbClr val="36454F"/>
                </a:solidFill>
                <a:latin typeface="Calibri" pitchFamily="34" charset="0"/>
                <a:ea typeface="Calibri" pitchFamily="34" charset="-122"/>
                <a:cs typeface="Calibri" pitchFamily="34" charset="-120"/>
              </a:rPr>
              <a:t>All models evaluated with: Cost-Sensitive Learning (CSL) • Stratified K-Fold Cross Validation • Clinical targets: Sensitivity ≥85%, Specificity ≥75%</a:t>
            </a:r>
          </a:p>
          <a:p>
            <a:pPr marL="0" indent="0" algn="ctr">
              <a:buNone/>
            </a:pPr>
            <a:endParaRPr lang="en-US" sz="1200" dirty="0"/>
          </a:p>
        </p:txBody>
      </p:sp>
      <p:sp>
        <p:nvSpPr>
          <p:cNvPr id="26" name="TextBox 25">
            <a:extLst>
              <a:ext uri="{FF2B5EF4-FFF2-40B4-BE49-F238E27FC236}">
                <a16:creationId xmlns:a16="http://schemas.microsoft.com/office/drawing/2014/main" id="{4DC6C268-2F49-F3AE-7B9F-BCBFA21C644D}"/>
              </a:ext>
            </a:extLst>
          </p:cNvPr>
          <p:cNvSpPr txBox="1"/>
          <p:nvPr/>
        </p:nvSpPr>
        <p:spPr>
          <a:xfrm>
            <a:off x="365760" y="4478774"/>
            <a:ext cx="7955280" cy="677108"/>
          </a:xfrm>
          <a:prstGeom prst="rect">
            <a:avLst/>
          </a:prstGeom>
          <a:noFill/>
        </p:spPr>
        <p:txBody>
          <a:bodyPr wrap="square" rtlCol="0">
            <a:spAutoFit/>
          </a:bodyPr>
          <a:lstStyle/>
          <a:p>
            <a:r>
              <a:rPr lang="en-US" sz="1000" dirty="0"/>
              <a:t>References: </a:t>
            </a:r>
            <a:r>
              <a:rPr lang="en-US" sz="1000" i="1" dirty="0"/>
              <a:t>Sensitivity &amp; specificity as clinical metrics: Simon &amp; Boring (1990), Clinical Methods, 3rd ed.</a:t>
            </a:r>
            <a:endParaRPr lang="en-US" sz="1000" dirty="0"/>
          </a:p>
          <a:p>
            <a:r>
              <a:rPr lang="en-US" sz="1000" i="1" dirty="0"/>
              <a:t>Clinical performance targets: </a:t>
            </a:r>
            <a:r>
              <a:rPr lang="en-US" sz="1000" i="1" dirty="0" err="1"/>
              <a:t>Vyshnya</a:t>
            </a:r>
            <a:r>
              <a:rPr lang="en-US" sz="1000" i="1" dirty="0"/>
              <a:t> et al. (2024), IEEE Open J Eng Med Biol, doi:10.1109/OJEMB.2023.3347479</a:t>
            </a:r>
            <a:endParaRPr lang="en-US" sz="1000"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55E00"/>
          </a:solidFill>
          <a:ln w="12700">
            <a:solidFill>
              <a:srgbClr val="D55E00"/>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0072B2"/>
          </a:solidFill>
          <a:ln w="12700">
            <a:solidFill>
              <a:srgbClr val="0072B2"/>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A0A0C0"/>
                </a:solidFill>
                <a:latin typeface="Calibri" pitchFamily="34" charset="0"/>
                <a:ea typeface="Calibri" pitchFamily="34" charset="-122"/>
                <a:cs typeface="Calibri" pitchFamily="34" charset="-120"/>
              </a:rPr>
              <a:t>7</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What We Expected vs. What We Found</a:t>
            </a:r>
            <a:endParaRPr lang="en-US" sz="2800" dirty="0"/>
          </a:p>
        </p:txBody>
      </p:sp>
      <p:sp>
        <p:nvSpPr>
          <p:cNvPr id="6" name="Shape 4"/>
          <p:cNvSpPr/>
          <p:nvPr/>
        </p:nvSpPr>
        <p:spPr>
          <a:xfrm>
            <a:off x="457200" y="1005840"/>
            <a:ext cx="3840480" cy="3291840"/>
          </a:xfrm>
          <a:prstGeom prst="rect">
            <a:avLst/>
          </a:prstGeom>
          <a:solidFill>
            <a:srgbClr val="252547"/>
          </a:solidFill>
          <a:ln w="12700">
            <a:solidFill>
              <a:srgbClr val="A0A0C0"/>
            </a:solidFill>
            <a:prstDash val="solid"/>
          </a:ln>
        </p:spPr>
        <p:txBody>
          <a:bodyPr/>
          <a:lstStyle/>
          <a:p>
            <a:endParaRPr lang="en-US"/>
          </a:p>
        </p:txBody>
      </p:sp>
      <p:sp>
        <p:nvSpPr>
          <p:cNvPr id="7" name="Text 5"/>
          <p:cNvSpPr/>
          <p:nvPr/>
        </p:nvSpPr>
        <p:spPr>
          <a:xfrm>
            <a:off x="548640" y="1078992"/>
            <a:ext cx="3657600" cy="411480"/>
          </a:xfrm>
          <a:prstGeom prst="rect">
            <a:avLst/>
          </a:prstGeom>
          <a:noFill/>
          <a:ln/>
        </p:spPr>
        <p:txBody>
          <a:bodyPr wrap="square" rtlCol="0" anchor="ctr"/>
          <a:lstStyle/>
          <a:p>
            <a:pPr marL="0" indent="0" algn="l">
              <a:buNone/>
            </a:pPr>
            <a:r>
              <a:rPr lang="en-US" sz="1600" b="1" dirty="0">
                <a:solidFill>
                  <a:srgbClr val="A0A0C0"/>
                </a:solidFill>
                <a:latin typeface="Trebuchet MS" pitchFamily="34" charset="0"/>
                <a:ea typeface="Trebuchet MS" pitchFamily="34" charset="-122"/>
                <a:cs typeface="Trebuchet MS" pitchFamily="34" charset="-120"/>
              </a:rPr>
              <a:t>We Expected</a:t>
            </a:r>
            <a:endParaRPr lang="en-US" sz="1600" dirty="0"/>
          </a:p>
        </p:txBody>
      </p:sp>
      <p:sp>
        <p:nvSpPr>
          <p:cNvPr id="8" name="Text 6"/>
          <p:cNvSpPr/>
          <p:nvPr/>
        </p:nvSpPr>
        <p:spPr>
          <a:xfrm>
            <a:off x="594360" y="1554480"/>
            <a:ext cx="3566160" cy="2560320"/>
          </a:xfrm>
          <a:prstGeom prst="rect">
            <a:avLst/>
          </a:prstGeom>
          <a:noFill/>
          <a:ln/>
        </p:spPr>
        <p:txBody>
          <a:bodyPr wrap="square" rtlCol="0" anchor="t"/>
          <a:lstStyle/>
          <a:p>
            <a:pPr marL="0" indent="0" algn="l">
              <a:buNone/>
            </a:pPr>
            <a:r>
              <a:rPr lang="en-US" sz="1300" dirty="0">
                <a:solidFill>
                  <a:srgbClr val="A0A0C0"/>
                </a:solidFill>
                <a:latin typeface="Calibri" pitchFamily="34" charset="0"/>
                <a:ea typeface="Calibri" pitchFamily="34" charset="-122"/>
                <a:cs typeface="Calibri" pitchFamily="34" charset="-120"/>
              </a:rPr>
              <a:t>Ensemble models (RF, XGBoost) would outperform Logistic Regression</a:t>
            </a:r>
            <a:endParaRPr lang="en-US" sz="1300" dirty="0"/>
          </a:p>
          <a:p>
            <a:pPr marL="0" indent="0" algn="l">
              <a:buNone/>
            </a:pPr>
            <a:endParaRPr lang="en-US" sz="1300" dirty="0"/>
          </a:p>
          <a:p>
            <a:pPr marL="0" indent="0" algn="l">
              <a:buNone/>
            </a:pPr>
            <a:r>
              <a:rPr lang="en-US" sz="1300" dirty="0">
                <a:solidFill>
                  <a:srgbClr val="A0A0C0"/>
                </a:solidFill>
                <a:latin typeface="Calibri" pitchFamily="34" charset="0"/>
                <a:ea typeface="Calibri" pitchFamily="34" charset="-122"/>
                <a:cs typeface="Calibri" pitchFamily="34" charset="-120"/>
              </a:rPr>
              <a:t>More complexity = better performance</a:t>
            </a:r>
            <a:endParaRPr lang="en-US" sz="1300" dirty="0"/>
          </a:p>
          <a:p>
            <a:pPr marL="0" indent="0" algn="l">
              <a:buNone/>
            </a:pPr>
            <a:endParaRPr lang="en-US" sz="1300" dirty="0"/>
          </a:p>
          <a:p>
            <a:pPr marL="0" indent="0" algn="l">
              <a:buNone/>
            </a:pPr>
            <a:r>
              <a:rPr lang="en-US" sz="1300" dirty="0">
                <a:solidFill>
                  <a:srgbClr val="A0A0C0"/>
                </a:solidFill>
                <a:latin typeface="Calibri" pitchFamily="34" charset="0"/>
                <a:ea typeface="Calibri" pitchFamily="34" charset="-122"/>
                <a:cs typeface="Calibri" pitchFamily="34" charset="-120"/>
              </a:rPr>
              <a:t>Standard accuracy metrics would be sufficient to identify the best model</a:t>
            </a:r>
            <a:endParaRPr lang="en-US" sz="1300" dirty="0"/>
          </a:p>
        </p:txBody>
      </p:sp>
      <p:sp>
        <p:nvSpPr>
          <p:cNvPr id="10" name="Text 8"/>
          <p:cNvSpPr/>
          <p:nvPr/>
        </p:nvSpPr>
        <p:spPr>
          <a:xfrm>
            <a:off x="4160520" y="2132310"/>
            <a:ext cx="822960" cy="457200"/>
          </a:xfrm>
          <a:prstGeom prst="rect">
            <a:avLst/>
          </a:prstGeom>
          <a:noFill/>
          <a:ln/>
        </p:spPr>
        <p:txBody>
          <a:bodyPr wrap="square" rtlCol="0" anchor="ctr"/>
          <a:lstStyle/>
          <a:p>
            <a:pPr marL="0" indent="0" algn="ctr">
              <a:buNone/>
            </a:pPr>
            <a:r>
              <a:rPr lang="en-US" sz="2800" dirty="0">
                <a:solidFill>
                  <a:srgbClr val="D55E00"/>
                </a:solidFill>
                <a:latin typeface="Calibri" pitchFamily="34" charset="0"/>
                <a:ea typeface="Calibri" pitchFamily="34" charset="-122"/>
                <a:cs typeface="Calibri" pitchFamily="34" charset="-120"/>
              </a:rPr>
              <a:t>→</a:t>
            </a:r>
            <a:endParaRPr lang="en-US" sz="2800" dirty="0"/>
          </a:p>
        </p:txBody>
      </p:sp>
      <p:sp>
        <p:nvSpPr>
          <p:cNvPr id="11" name="Shape 9"/>
          <p:cNvSpPr/>
          <p:nvPr/>
        </p:nvSpPr>
        <p:spPr>
          <a:xfrm>
            <a:off x="4846320" y="1005840"/>
            <a:ext cx="3840480" cy="3291840"/>
          </a:xfrm>
          <a:prstGeom prst="rect">
            <a:avLst/>
          </a:prstGeom>
          <a:solidFill>
            <a:srgbClr val="0072B2"/>
          </a:solidFill>
          <a:ln w="12700">
            <a:solidFill>
              <a:srgbClr val="0072B2"/>
            </a:solidFill>
            <a:prstDash val="solid"/>
          </a:ln>
        </p:spPr>
        <p:txBody>
          <a:bodyPr/>
          <a:lstStyle/>
          <a:p>
            <a:endParaRPr lang="en-US"/>
          </a:p>
        </p:txBody>
      </p:sp>
      <p:sp>
        <p:nvSpPr>
          <p:cNvPr id="12" name="Text 10"/>
          <p:cNvSpPr/>
          <p:nvPr/>
        </p:nvSpPr>
        <p:spPr>
          <a:xfrm>
            <a:off x="4937760" y="1078992"/>
            <a:ext cx="3657600" cy="411480"/>
          </a:xfrm>
          <a:prstGeom prst="rect">
            <a:avLst/>
          </a:prstGeom>
          <a:noFill/>
          <a:ln/>
        </p:spPr>
        <p:txBody>
          <a:bodyPr wrap="square" rtlCol="0" anchor="ctr"/>
          <a:lstStyle/>
          <a:p>
            <a:pPr marL="0" indent="0" algn="l">
              <a:buNone/>
            </a:pPr>
            <a:r>
              <a:rPr lang="en-US" sz="1600" b="1" dirty="0">
                <a:solidFill>
                  <a:srgbClr val="FFFFFF"/>
                </a:solidFill>
                <a:latin typeface="Trebuchet MS" pitchFamily="34" charset="0"/>
                <a:ea typeface="Trebuchet MS" pitchFamily="34" charset="-122"/>
                <a:cs typeface="Trebuchet MS" pitchFamily="34" charset="-120"/>
              </a:rPr>
              <a:t>What We Found</a:t>
            </a:r>
            <a:endParaRPr lang="en-US" sz="1600" dirty="0"/>
          </a:p>
        </p:txBody>
      </p:sp>
      <p:sp>
        <p:nvSpPr>
          <p:cNvPr id="13" name="Text 11"/>
          <p:cNvSpPr/>
          <p:nvPr/>
        </p:nvSpPr>
        <p:spPr>
          <a:xfrm>
            <a:off x="4983480" y="1554480"/>
            <a:ext cx="3566160" cy="2560320"/>
          </a:xfrm>
          <a:prstGeom prst="rect">
            <a:avLst/>
          </a:prstGeom>
          <a:noFill/>
          <a:ln/>
        </p:spPr>
        <p:txBody>
          <a:bodyPr wrap="square"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Logistic Regression outperformed all ensemble models</a:t>
            </a:r>
            <a:endParaRPr lang="en-US" sz="1300" dirty="0"/>
          </a:p>
          <a:p>
            <a:pPr marL="0" indent="0" algn="l">
              <a:buNone/>
            </a:pPr>
            <a:endParaRPr lang="en-US" sz="1300" dirty="0"/>
          </a:p>
          <a:p>
            <a:pPr marL="0" indent="0" algn="l">
              <a:buNone/>
            </a:pPr>
            <a:r>
              <a:rPr lang="en-US" sz="1300" dirty="0">
                <a:solidFill>
                  <a:srgbClr val="FFFFFF"/>
                </a:solidFill>
                <a:latin typeface="Calibri" pitchFamily="34" charset="0"/>
                <a:ea typeface="Calibri" pitchFamily="34" charset="-122"/>
                <a:cs typeface="Calibri" pitchFamily="34" charset="-120"/>
              </a:rPr>
              <a:t>Simplicity won — consistent with clinical ML literature</a:t>
            </a:r>
            <a:endParaRPr lang="en-US" sz="1300" dirty="0"/>
          </a:p>
          <a:p>
            <a:pPr marL="0" indent="0" algn="l">
              <a:buNone/>
            </a:pPr>
            <a:endParaRPr lang="en-US" sz="1300" dirty="0"/>
          </a:p>
          <a:p>
            <a:pPr marL="0" indent="0" algn="l">
              <a:buNone/>
            </a:pPr>
            <a:r>
              <a:rPr lang="en-US" sz="1300" dirty="0">
                <a:solidFill>
                  <a:srgbClr val="FFFFFF"/>
                </a:solidFill>
                <a:latin typeface="Calibri" pitchFamily="34" charset="0"/>
                <a:ea typeface="Calibri" pitchFamily="34" charset="-122"/>
                <a:cs typeface="Calibri" pitchFamily="34" charset="-120"/>
              </a:rPr>
              <a:t>Accuracy alone missed the full clinical story — threshold optimization was the key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2B2"/>
          </a:solidFill>
          <a:ln w="12700">
            <a:solidFill>
              <a:srgbClr val="0072B2"/>
            </a:solidFill>
            <a:prstDash val="solid"/>
          </a:ln>
        </p:spPr>
        <p:txBody>
          <a:bodyPr/>
          <a:lstStyle/>
          <a:p>
            <a:endParaRPr lang="en-US"/>
          </a:p>
        </p:txBody>
      </p:sp>
      <p:sp>
        <p:nvSpPr>
          <p:cNvPr id="3" name="Shape 1"/>
          <p:cNvSpPr/>
          <p:nvPr/>
        </p:nvSpPr>
        <p:spPr>
          <a:xfrm>
            <a:off x="0" y="5070348"/>
            <a:ext cx="9144000" cy="36576"/>
          </a:xfrm>
          <a:prstGeom prst="rect">
            <a:avLst/>
          </a:prstGeom>
          <a:solidFill>
            <a:srgbClr val="D55E00"/>
          </a:solidFill>
          <a:ln w="12700">
            <a:solidFill>
              <a:srgbClr val="D55E00"/>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0072B2"/>
                </a:solidFill>
                <a:latin typeface="Trebuchet MS" pitchFamily="34" charset="0"/>
                <a:ea typeface="Trebuchet MS" pitchFamily="34" charset="-122"/>
                <a:cs typeface="Trebuchet MS" pitchFamily="34" charset="-120"/>
              </a:rPr>
              <a:t>Model Comparison: All Models</a:t>
            </a:r>
            <a:endParaRPr lang="en-US" sz="2800" dirty="0"/>
          </a:p>
        </p:txBody>
      </p:sp>
      <p:sp>
        <p:nvSpPr>
          <p:cNvPr id="7" name="Text 5"/>
          <p:cNvSpPr/>
          <p:nvPr/>
        </p:nvSpPr>
        <p:spPr>
          <a:xfrm>
            <a:off x="457200" y="1033272"/>
            <a:ext cx="8229600" cy="3328416"/>
          </a:xfrm>
          <a:prstGeom prst="rect">
            <a:avLst/>
          </a:prstGeom>
          <a:noFill/>
          <a:ln/>
        </p:spPr>
        <p:txBody>
          <a:bodyPr wrap="square" rtlCol="0" anchor="t"/>
          <a:lstStyle/>
          <a:p>
            <a:pPr marL="0" indent="0" algn="l">
              <a:buNone/>
            </a:pPr>
            <a:r>
              <a:rPr lang="en-US" sz="1300" i="1" dirty="0">
                <a:solidFill>
                  <a:srgbClr val="64748B"/>
                </a:solidFill>
                <a:latin typeface="Calibri" pitchFamily="34" charset="0"/>
                <a:ea typeface="Calibri" pitchFamily="34" charset="-122"/>
                <a:cs typeface="Calibri" pitchFamily="34" charset="-120"/>
              </a:rPr>
              <a:t>.</a:t>
            </a:r>
            <a:endParaRPr lang="en-US" sz="1300" dirty="0"/>
          </a:p>
        </p:txBody>
      </p:sp>
      <p:pic>
        <p:nvPicPr>
          <p:cNvPr id="9" name="Picture 8">
            <a:extLst>
              <a:ext uri="{FF2B5EF4-FFF2-40B4-BE49-F238E27FC236}">
                <a16:creationId xmlns:a16="http://schemas.microsoft.com/office/drawing/2014/main" id="{6AD169C5-578F-8EA7-0157-5DB94206789A}"/>
              </a:ext>
            </a:extLst>
          </p:cNvPr>
          <p:cNvPicPr>
            <a:picLocks noChangeAspect="1"/>
          </p:cNvPicPr>
          <p:nvPr/>
        </p:nvPicPr>
        <p:blipFill>
          <a:blip r:embed="rId3"/>
          <a:stretch>
            <a:fillRect/>
          </a:stretch>
        </p:blipFill>
        <p:spPr>
          <a:xfrm>
            <a:off x="49570" y="762000"/>
            <a:ext cx="8944526" cy="36911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2B2"/>
          </a:solidFill>
          <a:ln w="12700">
            <a:solidFill>
              <a:srgbClr val="0072B2"/>
            </a:solidFill>
            <a:prstDash val="solid"/>
          </a:ln>
        </p:spPr>
        <p:txBody>
          <a:bodyPr/>
          <a:lstStyle/>
          <a:p>
            <a:endParaRPr lang="en-US"/>
          </a:p>
        </p:txBody>
      </p:sp>
      <p:sp>
        <p:nvSpPr>
          <p:cNvPr id="3" name="Shape 1"/>
          <p:cNvSpPr/>
          <p:nvPr/>
        </p:nvSpPr>
        <p:spPr>
          <a:xfrm>
            <a:off x="0" y="5070348"/>
            <a:ext cx="9144000" cy="36576"/>
          </a:xfrm>
          <a:prstGeom prst="rect">
            <a:avLst/>
          </a:prstGeom>
          <a:solidFill>
            <a:srgbClr val="D55E00"/>
          </a:solidFill>
          <a:ln w="12700">
            <a:solidFill>
              <a:srgbClr val="D55E00"/>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0072B2"/>
                </a:solidFill>
                <a:latin typeface="Trebuchet MS" pitchFamily="34" charset="0"/>
                <a:ea typeface="Trebuchet MS" pitchFamily="34" charset="-122"/>
                <a:cs typeface="Trebuchet MS" pitchFamily="34" charset="-120"/>
              </a:rPr>
              <a:t>Model Discrimination: ROC Curves</a:t>
            </a:r>
            <a:endParaRPr lang="en-US" sz="2800" dirty="0"/>
          </a:p>
        </p:txBody>
      </p:sp>
      <p:sp>
        <p:nvSpPr>
          <p:cNvPr id="7" name="Text 5"/>
          <p:cNvSpPr/>
          <p:nvPr/>
        </p:nvSpPr>
        <p:spPr>
          <a:xfrm>
            <a:off x="457200" y="1033272"/>
            <a:ext cx="4846320" cy="3328416"/>
          </a:xfrm>
          <a:prstGeom prst="rect">
            <a:avLst/>
          </a:prstGeom>
          <a:noFill/>
          <a:ln/>
        </p:spPr>
        <p:txBody>
          <a:bodyPr wrap="square" rtlCol="0" anchor="t"/>
          <a:lstStyle/>
          <a:p>
            <a:pPr marL="0" indent="0" algn="l">
              <a:buNone/>
            </a:pPr>
            <a:endParaRPr lang="en-US" sz="1300" dirty="0"/>
          </a:p>
        </p:txBody>
      </p:sp>
      <p:sp>
        <p:nvSpPr>
          <p:cNvPr id="8" name="Shape 6"/>
          <p:cNvSpPr/>
          <p:nvPr/>
        </p:nvSpPr>
        <p:spPr>
          <a:xfrm>
            <a:off x="5577840" y="960120"/>
            <a:ext cx="3200400" cy="3474720"/>
          </a:xfrm>
          <a:prstGeom prst="rect">
            <a:avLst/>
          </a:prstGeom>
          <a:solidFill>
            <a:srgbClr val="F4F8FC"/>
          </a:solidFill>
          <a:ln w="12700">
            <a:solidFill>
              <a:srgbClr val="C8DCEC"/>
            </a:solidFill>
            <a:prstDash val="solid"/>
          </a:ln>
        </p:spPr>
        <p:txBody>
          <a:bodyPr/>
          <a:lstStyle/>
          <a:p>
            <a:endParaRPr lang="en-US"/>
          </a:p>
        </p:txBody>
      </p:sp>
      <p:sp>
        <p:nvSpPr>
          <p:cNvPr id="9" name="Text 7"/>
          <p:cNvSpPr/>
          <p:nvPr/>
        </p:nvSpPr>
        <p:spPr>
          <a:xfrm>
            <a:off x="5669280" y="1033272"/>
            <a:ext cx="3017520" cy="365760"/>
          </a:xfrm>
          <a:prstGeom prst="rect">
            <a:avLst/>
          </a:prstGeom>
          <a:noFill/>
          <a:ln/>
        </p:spPr>
        <p:txBody>
          <a:bodyPr wrap="square" rtlCol="0" anchor="ctr"/>
          <a:lstStyle/>
          <a:p>
            <a:pPr marL="0" indent="0" algn="l">
              <a:buNone/>
            </a:pPr>
            <a:r>
              <a:rPr lang="en-US" sz="1400" b="1" dirty="0">
                <a:solidFill>
                  <a:srgbClr val="0072B2"/>
                </a:solidFill>
                <a:latin typeface="Trebuchet MS" pitchFamily="34" charset="0"/>
                <a:ea typeface="Trebuchet MS" pitchFamily="34" charset="-122"/>
                <a:cs typeface="Trebuchet MS" pitchFamily="34" charset="-120"/>
              </a:rPr>
              <a:t>Key Takeaways</a:t>
            </a:r>
            <a:endParaRPr lang="en-US" sz="1400" dirty="0"/>
          </a:p>
        </p:txBody>
      </p:sp>
      <p:sp>
        <p:nvSpPr>
          <p:cNvPr id="10" name="Text 8"/>
          <p:cNvSpPr/>
          <p:nvPr/>
        </p:nvSpPr>
        <p:spPr>
          <a:xfrm>
            <a:off x="5669280" y="1463040"/>
            <a:ext cx="3017520" cy="2743200"/>
          </a:xfrm>
          <a:prstGeom prst="rect">
            <a:avLst/>
          </a:prstGeom>
          <a:noFill/>
          <a:ln/>
        </p:spPr>
        <p:txBody>
          <a:bodyPr wrap="square" rtlCol="0" anchor="t"/>
          <a:lstStyle/>
          <a:p>
            <a:pPr marL="0" indent="0" algn="l">
              <a:buNone/>
            </a:pPr>
            <a:r>
              <a:rPr lang="en-US" sz="1200" dirty="0">
                <a:solidFill>
                  <a:srgbClr val="36454F"/>
                </a:solidFill>
                <a:latin typeface="Calibri" pitchFamily="34" charset="0"/>
                <a:ea typeface="Calibri" pitchFamily="34" charset="-122"/>
                <a:cs typeface="Calibri" pitchFamily="34" charset="-120"/>
              </a:rPr>
              <a:t>• LR CSL &amp; SVM Linear CSL highest AUC</a:t>
            </a:r>
            <a:endParaRPr lang="en-US" sz="1200" dirty="0"/>
          </a:p>
          <a:p>
            <a:pPr marL="0" indent="0" algn="l">
              <a:buNone/>
            </a:pP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All models well above random classifier</a:t>
            </a:r>
            <a:endParaRPr lang="en-US" sz="1200" dirty="0"/>
          </a:p>
          <a:p>
            <a:pPr marL="0" indent="0" algn="l">
              <a:buNone/>
            </a:pP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Dotted line = clinical sensitivity target (0.85)</a:t>
            </a:r>
            <a:endParaRPr lang="en-US" sz="1200" dirty="0"/>
          </a:p>
          <a:p>
            <a:pPr marL="0" indent="0" algn="l">
              <a:buNone/>
            </a:pP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No model reaches target at default threshold — threshold optimization needed</a:t>
            </a:r>
            <a:endParaRPr lang="en-US" sz="1200" dirty="0"/>
          </a:p>
        </p:txBody>
      </p:sp>
      <p:pic>
        <p:nvPicPr>
          <p:cNvPr id="12" name="Picture 11">
            <a:extLst>
              <a:ext uri="{FF2B5EF4-FFF2-40B4-BE49-F238E27FC236}">
                <a16:creationId xmlns:a16="http://schemas.microsoft.com/office/drawing/2014/main" id="{602E8469-D44D-1BC0-691F-AD73FC84B480}"/>
              </a:ext>
            </a:extLst>
          </p:cNvPr>
          <p:cNvPicPr>
            <a:picLocks noChangeAspect="1"/>
          </p:cNvPicPr>
          <p:nvPr/>
        </p:nvPicPr>
        <p:blipFill>
          <a:blip r:embed="rId3"/>
          <a:stretch>
            <a:fillRect/>
          </a:stretch>
        </p:blipFill>
        <p:spPr>
          <a:xfrm>
            <a:off x="365760" y="758952"/>
            <a:ext cx="4623357" cy="40370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55E00"/>
          </a:solidFill>
          <a:ln w="12700">
            <a:solidFill>
              <a:srgbClr val="D55E00"/>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0072B2"/>
          </a:solidFill>
          <a:ln w="12700">
            <a:solidFill>
              <a:srgbClr val="0072B2"/>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A0A0C0"/>
                </a:solidFill>
                <a:latin typeface="Calibri" pitchFamily="34" charset="0"/>
                <a:ea typeface="Calibri" pitchFamily="34" charset="-122"/>
                <a:cs typeface="Calibri" pitchFamily="34" charset="-120"/>
              </a:rPr>
              <a:t>10</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The Problem With Default Thresholds</a:t>
            </a:r>
            <a:endParaRPr lang="en-US" sz="2800" dirty="0"/>
          </a:p>
        </p:txBody>
      </p:sp>
      <p:sp>
        <p:nvSpPr>
          <p:cNvPr id="6" name="Shape 4"/>
          <p:cNvSpPr/>
          <p:nvPr/>
        </p:nvSpPr>
        <p:spPr>
          <a:xfrm>
            <a:off x="457200" y="1097280"/>
            <a:ext cx="8229600" cy="1280160"/>
          </a:xfrm>
          <a:prstGeom prst="rect">
            <a:avLst/>
          </a:prstGeom>
          <a:solidFill>
            <a:srgbClr val="D55E00"/>
          </a:solidFill>
          <a:ln w="12700">
            <a:solidFill>
              <a:srgbClr val="D55E00"/>
            </a:solidFill>
            <a:prstDash val="solid"/>
          </a:ln>
        </p:spPr>
        <p:txBody>
          <a:bodyPr/>
          <a:lstStyle/>
          <a:p>
            <a:endParaRPr lang="en-US"/>
          </a:p>
        </p:txBody>
      </p:sp>
      <p:sp>
        <p:nvSpPr>
          <p:cNvPr id="7" name="Text 5"/>
          <p:cNvSpPr/>
          <p:nvPr/>
        </p:nvSpPr>
        <p:spPr>
          <a:xfrm>
            <a:off x="548640" y="1143000"/>
            <a:ext cx="8046720" cy="118872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At the default threshold, our best model missed 8 out of 39 CVD patients.</a:t>
            </a:r>
            <a:endParaRPr lang="en-US" sz="2200" dirty="0"/>
          </a:p>
        </p:txBody>
      </p:sp>
      <p:sp>
        <p:nvSpPr>
          <p:cNvPr id="8" name="Shape 6"/>
          <p:cNvSpPr/>
          <p:nvPr/>
        </p:nvSpPr>
        <p:spPr>
          <a:xfrm>
            <a:off x="457200" y="2560320"/>
            <a:ext cx="3931920" cy="1828800"/>
          </a:xfrm>
          <a:prstGeom prst="rect">
            <a:avLst/>
          </a:prstGeom>
          <a:solidFill>
            <a:srgbClr val="252547"/>
          </a:solidFill>
          <a:ln w="12700">
            <a:solidFill>
              <a:srgbClr val="A0A0C0"/>
            </a:solidFill>
            <a:prstDash val="solid"/>
          </a:ln>
        </p:spPr>
        <p:txBody>
          <a:bodyPr/>
          <a:lstStyle/>
          <a:p>
            <a:endParaRPr lang="en-US"/>
          </a:p>
        </p:txBody>
      </p:sp>
      <p:sp>
        <p:nvSpPr>
          <p:cNvPr id="9" name="Text 7"/>
          <p:cNvSpPr/>
          <p:nvPr/>
        </p:nvSpPr>
        <p:spPr>
          <a:xfrm>
            <a:off x="548640" y="2633472"/>
            <a:ext cx="3749040" cy="365760"/>
          </a:xfrm>
          <a:prstGeom prst="rect">
            <a:avLst/>
          </a:prstGeom>
          <a:noFill/>
          <a:ln/>
        </p:spPr>
        <p:txBody>
          <a:bodyPr wrap="square" rtlCol="0" anchor="ctr"/>
          <a:lstStyle/>
          <a:p>
            <a:pPr marL="0" indent="0" algn="l">
              <a:buNone/>
            </a:pPr>
            <a:r>
              <a:rPr lang="en-US" sz="1400" b="1" dirty="0">
                <a:solidFill>
                  <a:srgbClr val="A0A0C0"/>
                </a:solidFill>
                <a:latin typeface="Trebuchet MS" pitchFamily="34" charset="0"/>
                <a:ea typeface="Trebuchet MS" pitchFamily="34" charset="-122"/>
                <a:cs typeface="Trebuchet MS" pitchFamily="34" charset="-120"/>
              </a:rPr>
              <a:t>Default Threshold: 0.50</a:t>
            </a:r>
            <a:endParaRPr lang="en-US" sz="1400" dirty="0"/>
          </a:p>
        </p:txBody>
      </p:sp>
      <p:sp>
        <p:nvSpPr>
          <p:cNvPr id="10" name="Text 8"/>
          <p:cNvSpPr/>
          <p:nvPr/>
        </p:nvSpPr>
        <p:spPr>
          <a:xfrm>
            <a:off x="548640" y="3063240"/>
            <a:ext cx="3749040" cy="1188720"/>
          </a:xfrm>
          <a:prstGeom prst="rect">
            <a:avLst/>
          </a:prstGeom>
          <a:noFill/>
          <a:ln/>
        </p:spPr>
        <p:txBody>
          <a:bodyPr wrap="square" rtlCol="0" anchor="t"/>
          <a:lstStyle/>
          <a:p>
            <a:pPr marL="0" indent="0" algn="l">
              <a:buNone/>
            </a:pPr>
            <a:r>
              <a:rPr lang="en-US" sz="1300" dirty="0">
                <a:solidFill>
                  <a:srgbClr val="A0A0C0"/>
                </a:solidFill>
                <a:latin typeface="Calibri" pitchFamily="34" charset="0"/>
                <a:ea typeface="Calibri" pitchFamily="34" charset="-122"/>
                <a:cs typeface="Calibri" pitchFamily="34" charset="-120"/>
              </a:rPr>
              <a:t>A statistical convention</a:t>
            </a:r>
            <a:endParaRPr lang="en-US" sz="1300" dirty="0"/>
          </a:p>
          <a:p>
            <a:pPr marL="0" indent="0" algn="l">
              <a:buNone/>
            </a:pPr>
            <a:r>
              <a:rPr lang="en-US" sz="1300" dirty="0">
                <a:solidFill>
                  <a:srgbClr val="A0A0C0"/>
                </a:solidFill>
                <a:latin typeface="Calibri" pitchFamily="34" charset="0"/>
                <a:ea typeface="Calibri" pitchFamily="34" charset="-122"/>
                <a:cs typeface="Calibri" pitchFamily="34" charset="-120"/>
              </a:rPr>
              <a:t>Not a clinical standard</a:t>
            </a:r>
            <a:endParaRPr lang="en-US" sz="1300" dirty="0"/>
          </a:p>
          <a:p>
            <a:pPr marL="0" indent="0" algn="l">
              <a:buNone/>
            </a:pPr>
            <a:r>
              <a:rPr lang="en-US" sz="1300" dirty="0">
                <a:solidFill>
                  <a:srgbClr val="A0A0C0"/>
                </a:solidFill>
                <a:latin typeface="Calibri" pitchFamily="34" charset="0"/>
                <a:ea typeface="Calibri" pitchFamily="34" charset="-122"/>
                <a:cs typeface="Calibri" pitchFamily="34" charset="-120"/>
              </a:rPr>
              <a:t>Recall: 0.795 — below target</a:t>
            </a:r>
            <a:endParaRPr lang="en-US" sz="1300" dirty="0"/>
          </a:p>
        </p:txBody>
      </p:sp>
      <p:sp>
        <p:nvSpPr>
          <p:cNvPr id="11" name="Shape 9"/>
          <p:cNvSpPr/>
          <p:nvPr/>
        </p:nvSpPr>
        <p:spPr>
          <a:xfrm>
            <a:off x="4754880" y="2560320"/>
            <a:ext cx="3931920" cy="1828800"/>
          </a:xfrm>
          <a:prstGeom prst="rect">
            <a:avLst/>
          </a:prstGeom>
          <a:solidFill>
            <a:srgbClr val="0072B2"/>
          </a:solidFill>
          <a:ln w="12700">
            <a:solidFill>
              <a:srgbClr val="0072B2"/>
            </a:solidFill>
            <a:prstDash val="solid"/>
          </a:ln>
        </p:spPr>
        <p:txBody>
          <a:bodyPr/>
          <a:lstStyle/>
          <a:p>
            <a:endParaRPr lang="en-US"/>
          </a:p>
        </p:txBody>
      </p:sp>
      <p:sp>
        <p:nvSpPr>
          <p:cNvPr id="12" name="Text 10"/>
          <p:cNvSpPr/>
          <p:nvPr/>
        </p:nvSpPr>
        <p:spPr>
          <a:xfrm>
            <a:off x="4846320" y="2633472"/>
            <a:ext cx="3749040" cy="365760"/>
          </a:xfrm>
          <a:prstGeom prst="rect">
            <a:avLst/>
          </a:prstGeom>
          <a:noFill/>
          <a:ln/>
        </p:spPr>
        <p:txBody>
          <a:bodyPr wrap="square"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Optimized Threshold: 0.25</a:t>
            </a:r>
            <a:endParaRPr lang="en-US" sz="1400" dirty="0"/>
          </a:p>
        </p:txBody>
      </p:sp>
      <p:sp>
        <p:nvSpPr>
          <p:cNvPr id="13" name="Text 11"/>
          <p:cNvSpPr/>
          <p:nvPr/>
        </p:nvSpPr>
        <p:spPr>
          <a:xfrm>
            <a:off x="4846320" y="3063240"/>
            <a:ext cx="3749040" cy="1188720"/>
          </a:xfrm>
          <a:prstGeom prst="rect">
            <a:avLst/>
          </a:prstGeom>
          <a:noFill/>
          <a:ln/>
        </p:spPr>
        <p:txBody>
          <a:bodyPr wrap="square" rtlCol="0" anchor="t"/>
          <a:lstStyle/>
          <a:p>
            <a:pPr marL="0" indent="0" algn="l">
              <a:buNone/>
            </a:pPr>
            <a:r>
              <a:rPr lang="en-US" sz="1300" dirty="0">
                <a:solidFill>
                  <a:srgbClr val="FFFFFF"/>
                </a:solidFill>
                <a:latin typeface="Calibri" pitchFamily="34" charset="0"/>
                <a:ea typeface="Calibri" pitchFamily="34" charset="-122"/>
                <a:cs typeface="Calibri" pitchFamily="34" charset="-120"/>
              </a:rPr>
              <a:t>Clinically informed</a:t>
            </a:r>
            <a:endParaRPr lang="en-US" sz="1300" dirty="0"/>
          </a:p>
          <a:p>
            <a:pPr marL="0" indent="0" algn="l">
              <a:buNone/>
            </a:pPr>
            <a:r>
              <a:rPr lang="en-US" sz="1300" dirty="0">
                <a:solidFill>
                  <a:srgbClr val="FFFFFF"/>
                </a:solidFill>
                <a:latin typeface="Calibri" pitchFamily="34" charset="0"/>
                <a:ea typeface="Calibri" pitchFamily="34" charset="-122"/>
                <a:cs typeface="Calibri" pitchFamily="34" charset="-120"/>
              </a:rPr>
              <a:t>Meets sensitivity target</a:t>
            </a:r>
            <a:endParaRPr lang="en-US" sz="1300" dirty="0"/>
          </a:p>
          <a:p>
            <a:pPr marL="0" indent="0" algn="l">
              <a:buNone/>
            </a:pPr>
            <a:r>
              <a:rPr lang="en-US" sz="1300" dirty="0">
                <a:solidFill>
                  <a:srgbClr val="FFFFFF"/>
                </a:solidFill>
                <a:latin typeface="Calibri" pitchFamily="34" charset="0"/>
                <a:ea typeface="Calibri" pitchFamily="34" charset="-122"/>
                <a:cs typeface="Calibri" pitchFamily="34" charset="-120"/>
              </a:rPr>
              <a:t>Recall: 0.949 — only 2 missed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2B2"/>
          </a:solidFill>
          <a:ln w="12700">
            <a:solidFill>
              <a:srgbClr val="0072B2"/>
            </a:solidFill>
            <a:prstDash val="solid"/>
          </a:ln>
        </p:spPr>
        <p:txBody>
          <a:bodyPr/>
          <a:lstStyle/>
          <a:p>
            <a:endParaRPr lang="en-US"/>
          </a:p>
        </p:txBody>
      </p:sp>
      <p:sp>
        <p:nvSpPr>
          <p:cNvPr id="3" name="Shape 1"/>
          <p:cNvSpPr/>
          <p:nvPr/>
        </p:nvSpPr>
        <p:spPr>
          <a:xfrm>
            <a:off x="0" y="5070348"/>
            <a:ext cx="9144000" cy="36576"/>
          </a:xfrm>
          <a:prstGeom prst="rect">
            <a:avLst/>
          </a:prstGeom>
          <a:solidFill>
            <a:srgbClr val="D55E00"/>
          </a:solidFill>
          <a:ln w="12700">
            <a:solidFill>
              <a:srgbClr val="D55E00"/>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0072B2"/>
                </a:solidFill>
                <a:latin typeface="Trebuchet MS" pitchFamily="34" charset="0"/>
                <a:ea typeface="Trebuchet MS" pitchFamily="34" charset="-122"/>
                <a:cs typeface="Trebuchet MS" pitchFamily="34" charset="-120"/>
              </a:rPr>
              <a:t>Finding the Right Threshold</a:t>
            </a:r>
            <a:endParaRPr lang="en-US" sz="2800" dirty="0"/>
          </a:p>
        </p:txBody>
      </p:sp>
      <p:sp>
        <p:nvSpPr>
          <p:cNvPr id="7" name="Text 5"/>
          <p:cNvSpPr/>
          <p:nvPr/>
        </p:nvSpPr>
        <p:spPr>
          <a:xfrm>
            <a:off x="457200" y="1033272"/>
            <a:ext cx="4846320" cy="3328416"/>
          </a:xfrm>
          <a:prstGeom prst="rect">
            <a:avLst/>
          </a:prstGeom>
          <a:noFill/>
          <a:ln/>
        </p:spPr>
        <p:txBody>
          <a:bodyPr wrap="square" rtlCol="0" anchor="t"/>
          <a:lstStyle/>
          <a:p>
            <a:pPr marL="0" indent="0" algn="l">
              <a:buNone/>
            </a:pPr>
            <a:endParaRPr lang="en-US" sz="1300" dirty="0"/>
          </a:p>
        </p:txBody>
      </p:sp>
      <p:sp>
        <p:nvSpPr>
          <p:cNvPr id="8" name="Shape 6"/>
          <p:cNvSpPr/>
          <p:nvPr/>
        </p:nvSpPr>
        <p:spPr>
          <a:xfrm>
            <a:off x="5852160" y="955548"/>
            <a:ext cx="3200400" cy="3474720"/>
          </a:xfrm>
          <a:prstGeom prst="rect">
            <a:avLst/>
          </a:prstGeom>
          <a:solidFill>
            <a:srgbClr val="F4F8FC"/>
          </a:solidFill>
          <a:ln w="12700">
            <a:solidFill>
              <a:srgbClr val="C8DCEC"/>
            </a:solidFill>
            <a:prstDash val="solid"/>
          </a:ln>
        </p:spPr>
        <p:txBody>
          <a:bodyPr/>
          <a:lstStyle/>
          <a:p>
            <a:endParaRPr lang="en-US"/>
          </a:p>
        </p:txBody>
      </p:sp>
      <p:sp>
        <p:nvSpPr>
          <p:cNvPr id="9" name="Text 7"/>
          <p:cNvSpPr/>
          <p:nvPr/>
        </p:nvSpPr>
        <p:spPr>
          <a:xfrm>
            <a:off x="5852160" y="1033272"/>
            <a:ext cx="3017520" cy="365760"/>
          </a:xfrm>
          <a:prstGeom prst="rect">
            <a:avLst/>
          </a:prstGeom>
          <a:noFill/>
          <a:ln/>
        </p:spPr>
        <p:txBody>
          <a:bodyPr wrap="square" rtlCol="0" anchor="ctr"/>
          <a:lstStyle/>
          <a:p>
            <a:pPr marL="0" indent="0" algn="l">
              <a:buNone/>
            </a:pPr>
            <a:r>
              <a:rPr lang="en-US" sz="1400" b="1" dirty="0">
                <a:solidFill>
                  <a:srgbClr val="0072B2"/>
                </a:solidFill>
                <a:latin typeface="Trebuchet MS" pitchFamily="34" charset="0"/>
                <a:ea typeface="Trebuchet MS" pitchFamily="34" charset="-122"/>
                <a:cs typeface="Trebuchet MS" pitchFamily="34" charset="-120"/>
              </a:rPr>
              <a:t>Clinical Targets Met</a:t>
            </a:r>
            <a:endParaRPr lang="en-US" sz="1400" dirty="0"/>
          </a:p>
        </p:txBody>
      </p:sp>
      <p:sp>
        <p:nvSpPr>
          <p:cNvPr id="10" name="Text 8"/>
          <p:cNvSpPr/>
          <p:nvPr/>
        </p:nvSpPr>
        <p:spPr>
          <a:xfrm>
            <a:off x="5852160" y="1463040"/>
            <a:ext cx="3017520" cy="2743200"/>
          </a:xfrm>
          <a:prstGeom prst="rect">
            <a:avLst/>
          </a:prstGeom>
          <a:noFill/>
          <a:ln/>
        </p:spPr>
        <p:txBody>
          <a:bodyPr wrap="square" rtlCol="0" anchor="t"/>
          <a:lstStyle/>
          <a:p>
            <a:pPr marL="0" indent="0" algn="l">
              <a:buNone/>
            </a:pPr>
            <a:r>
              <a:rPr lang="en-US" sz="1100" b="1" dirty="0">
                <a:solidFill>
                  <a:srgbClr val="36454F"/>
                </a:solidFill>
                <a:latin typeface="Calibri" pitchFamily="34" charset="0"/>
                <a:ea typeface="Calibri" pitchFamily="34" charset="-122"/>
                <a:cs typeface="Calibri" pitchFamily="34" charset="-120"/>
              </a:rPr>
              <a:t>LR CSL @ 0.25:</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Sensitivity 0.949 | Only 2 missed</a:t>
            </a:r>
            <a:endParaRPr lang="en-US" sz="1100" dirty="0"/>
          </a:p>
          <a:p>
            <a:pPr marL="0" indent="0" algn="l">
              <a:buNone/>
            </a:pPr>
            <a:endParaRPr lang="en-US" sz="1100" dirty="0"/>
          </a:p>
          <a:p>
            <a:pPr marL="0" indent="0" algn="l">
              <a:buNone/>
            </a:pPr>
            <a:r>
              <a:rPr lang="en-US" sz="1100" b="1" dirty="0">
                <a:solidFill>
                  <a:srgbClr val="36454F"/>
                </a:solidFill>
                <a:latin typeface="Calibri" pitchFamily="34" charset="0"/>
                <a:ea typeface="Calibri" pitchFamily="34" charset="-122"/>
                <a:cs typeface="Calibri" pitchFamily="34" charset="-120"/>
              </a:rPr>
              <a:t>SVM Linear CSL @ 0.30:</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Sensitivity 0.923 | 3 missed</a:t>
            </a:r>
            <a:endParaRPr lang="en-US" sz="1100" dirty="0"/>
          </a:p>
          <a:p>
            <a:pPr marL="0" indent="0" algn="l">
              <a:buNone/>
            </a:pPr>
            <a:endParaRPr lang="en-US" sz="1100" dirty="0"/>
          </a:p>
          <a:p>
            <a:pPr marL="0" indent="0" algn="l">
              <a:buNone/>
            </a:pPr>
            <a:r>
              <a:rPr lang="en-US" sz="1100" b="1" dirty="0">
                <a:solidFill>
                  <a:srgbClr val="36454F"/>
                </a:solidFill>
                <a:latin typeface="Calibri" pitchFamily="34" charset="0"/>
                <a:ea typeface="Calibri" pitchFamily="34" charset="-122"/>
                <a:cs typeface="Calibri" pitchFamily="34" charset="-120"/>
              </a:rPr>
              <a:t>RF Tuned @ 0.40:</a:t>
            </a:r>
            <a:endParaRPr lang="en-US" sz="1100" dirty="0"/>
          </a:p>
          <a:p>
            <a:pPr marL="0" indent="0" algn="l">
              <a:buNone/>
            </a:pPr>
            <a:r>
              <a:rPr lang="en-US" sz="1100" dirty="0">
                <a:solidFill>
                  <a:srgbClr val="36454F"/>
                </a:solidFill>
                <a:latin typeface="Calibri" pitchFamily="34" charset="0"/>
                <a:ea typeface="Calibri" pitchFamily="34" charset="-122"/>
                <a:cs typeface="Calibri" pitchFamily="34" charset="-120"/>
              </a:rPr>
              <a:t>Best sensitivity/specificity balance</a:t>
            </a:r>
            <a:endParaRPr lang="en-US" sz="1100" dirty="0"/>
          </a:p>
          <a:p>
            <a:pPr marL="0" indent="0" algn="l">
              <a:buNone/>
            </a:pPr>
            <a:endParaRPr lang="en-US" sz="1100" dirty="0"/>
          </a:p>
          <a:p>
            <a:pPr marL="0" indent="0" algn="l">
              <a:buNone/>
            </a:pPr>
            <a:r>
              <a:rPr lang="en-US" sz="1100" b="1" dirty="0">
                <a:solidFill>
                  <a:srgbClr val="36454F"/>
                </a:solidFill>
                <a:latin typeface="Calibri" pitchFamily="34" charset="0"/>
                <a:ea typeface="Calibri" pitchFamily="34" charset="-122"/>
                <a:cs typeface="Calibri" pitchFamily="34" charset="-120"/>
              </a:rPr>
              <a:t>All 4 models meet clinical targets with optimization</a:t>
            </a:r>
            <a:endParaRPr lang="en-US" sz="1100" dirty="0"/>
          </a:p>
        </p:txBody>
      </p:sp>
      <p:pic>
        <p:nvPicPr>
          <p:cNvPr id="12" name="Picture 11">
            <a:extLst>
              <a:ext uri="{FF2B5EF4-FFF2-40B4-BE49-F238E27FC236}">
                <a16:creationId xmlns:a16="http://schemas.microsoft.com/office/drawing/2014/main" id="{4C954509-A0BD-EAFE-11F0-AD1843DC169C}"/>
              </a:ext>
            </a:extLst>
          </p:cNvPr>
          <p:cNvPicPr>
            <a:picLocks noChangeAspect="1"/>
          </p:cNvPicPr>
          <p:nvPr/>
        </p:nvPicPr>
        <p:blipFill>
          <a:blip r:embed="rId3"/>
          <a:stretch>
            <a:fillRect/>
          </a:stretch>
        </p:blipFill>
        <p:spPr>
          <a:xfrm>
            <a:off x="-16332" y="719075"/>
            <a:ext cx="5868492" cy="43306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2B2"/>
          </a:solidFill>
          <a:ln w="12700">
            <a:solidFill>
              <a:srgbClr val="0072B2"/>
            </a:solidFill>
            <a:prstDash val="solid"/>
          </a:ln>
        </p:spPr>
        <p:txBody>
          <a:bodyPr/>
          <a:lstStyle/>
          <a:p>
            <a:endParaRPr lang="en-US"/>
          </a:p>
        </p:txBody>
      </p:sp>
      <p:sp>
        <p:nvSpPr>
          <p:cNvPr id="3" name="Shape 1"/>
          <p:cNvSpPr/>
          <p:nvPr/>
        </p:nvSpPr>
        <p:spPr>
          <a:xfrm>
            <a:off x="0" y="5070348"/>
            <a:ext cx="9144000" cy="36576"/>
          </a:xfrm>
          <a:prstGeom prst="rect">
            <a:avLst/>
          </a:prstGeom>
          <a:solidFill>
            <a:srgbClr val="D55E00"/>
          </a:solidFill>
          <a:ln w="12700">
            <a:solidFill>
              <a:srgbClr val="D55E00"/>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0072B2"/>
                </a:solidFill>
                <a:latin typeface="Trebuchet MS" pitchFamily="34" charset="0"/>
                <a:ea typeface="Trebuchet MS" pitchFamily="34" charset="-122"/>
                <a:cs typeface="Trebuchet MS" pitchFamily="34" charset="-120"/>
              </a:rPr>
              <a:t>Is The Model Worth Using? Decision Curve Analysis</a:t>
            </a:r>
            <a:endParaRPr lang="en-US" sz="2800" dirty="0"/>
          </a:p>
        </p:txBody>
      </p:sp>
      <p:sp>
        <p:nvSpPr>
          <p:cNvPr id="7" name="Text 5"/>
          <p:cNvSpPr/>
          <p:nvPr/>
        </p:nvSpPr>
        <p:spPr>
          <a:xfrm>
            <a:off x="457200" y="1033272"/>
            <a:ext cx="4846320" cy="3328416"/>
          </a:xfrm>
          <a:prstGeom prst="rect">
            <a:avLst/>
          </a:prstGeom>
          <a:noFill/>
          <a:ln/>
        </p:spPr>
        <p:txBody>
          <a:bodyPr wrap="square" rtlCol="0" anchor="t"/>
          <a:lstStyle/>
          <a:p>
            <a:pPr marL="0" indent="0" algn="l">
              <a:buNone/>
            </a:pPr>
            <a:endParaRPr lang="en-US" sz="1300" dirty="0"/>
          </a:p>
        </p:txBody>
      </p:sp>
      <p:sp>
        <p:nvSpPr>
          <p:cNvPr id="8" name="Shape 6"/>
          <p:cNvSpPr/>
          <p:nvPr/>
        </p:nvSpPr>
        <p:spPr>
          <a:xfrm>
            <a:off x="5577840" y="960120"/>
            <a:ext cx="3200400" cy="3474720"/>
          </a:xfrm>
          <a:prstGeom prst="rect">
            <a:avLst/>
          </a:prstGeom>
          <a:solidFill>
            <a:srgbClr val="F4F8FC"/>
          </a:solidFill>
          <a:ln w="12700">
            <a:solidFill>
              <a:srgbClr val="C8DCEC"/>
            </a:solidFill>
            <a:prstDash val="solid"/>
          </a:ln>
        </p:spPr>
        <p:txBody>
          <a:bodyPr/>
          <a:lstStyle/>
          <a:p>
            <a:endParaRPr lang="en-US"/>
          </a:p>
        </p:txBody>
      </p:sp>
      <p:sp>
        <p:nvSpPr>
          <p:cNvPr id="9" name="Text 7"/>
          <p:cNvSpPr/>
          <p:nvPr/>
        </p:nvSpPr>
        <p:spPr>
          <a:xfrm>
            <a:off x="5669280" y="1033272"/>
            <a:ext cx="3017520" cy="365760"/>
          </a:xfrm>
          <a:prstGeom prst="rect">
            <a:avLst/>
          </a:prstGeom>
          <a:noFill/>
          <a:ln/>
        </p:spPr>
        <p:txBody>
          <a:bodyPr wrap="square" rtlCol="0" anchor="ctr"/>
          <a:lstStyle/>
          <a:p>
            <a:pPr marL="0" indent="0" algn="l">
              <a:buNone/>
            </a:pPr>
            <a:r>
              <a:rPr lang="en-US" sz="1400" b="1" dirty="0">
                <a:solidFill>
                  <a:srgbClr val="0072B2"/>
                </a:solidFill>
                <a:latin typeface="Trebuchet MS" pitchFamily="34" charset="0"/>
                <a:ea typeface="Trebuchet MS" pitchFamily="34" charset="-122"/>
                <a:cs typeface="Trebuchet MS" pitchFamily="34" charset="-120"/>
              </a:rPr>
              <a:t>What This Means</a:t>
            </a:r>
            <a:endParaRPr lang="en-US" sz="1400" dirty="0"/>
          </a:p>
        </p:txBody>
      </p:sp>
      <p:sp>
        <p:nvSpPr>
          <p:cNvPr id="10" name="Text 8"/>
          <p:cNvSpPr/>
          <p:nvPr/>
        </p:nvSpPr>
        <p:spPr>
          <a:xfrm>
            <a:off x="5669280" y="1463040"/>
            <a:ext cx="3017520" cy="2743200"/>
          </a:xfrm>
          <a:prstGeom prst="rect">
            <a:avLst/>
          </a:prstGeom>
          <a:noFill/>
          <a:ln/>
        </p:spPr>
        <p:txBody>
          <a:bodyPr wrap="square" rtlCol="0" anchor="t"/>
          <a:lstStyle/>
          <a:p>
            <a:pPr marL="0" indent="0" algn="l">
              <a:buNone/>
            </a:pPr>
            <a:r>
              <a:rPr lang="en-US" sz="1200" b="1" dirty="0">
                <a:solidFill>
                  <a:srgbClr val="36454F"/>
                </a:solidFill>
                <a:latin typeface="Calibri" pitchFamily="34" charset="0"/>
                <a:ea typeface="Calibri" pitchFamily="34" charset="-122"/>
                <a:cs typeface="Calibri" pitchFamily="34" charset="-120"/>
              </a:rPr>
              <a:t>Three lines on this chart:</a:t>
            </a:r>
            <a:endParaRPr lang="en-US" sz="1200" dirty="0"/>
          </a:p>
          <a:p>
            <a:pPr marL="0" indent="0" algn="l">
              <a:buNone/>
            </a:pP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Treat nobody → net benefit = 0</a:t>
            </a: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Treat everybody → declining curve</a:t>
            </a: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 Our models → above both</a:t>
            </a:r>
            <a:endParaRPr lang="en-US" sz="1200" dirty="0"/>
          </a:p>
          <a:p>
            <a:pPr marL="0" indent="0" algn="l">
              <a:buNone/>
            </a:pPr>
            <a:endParaRPr lang="en-US" sz="1200" dirty="0"/>
          </a:p>
          <a:p>
            <a:pPr marL="0" indent="0" algn="l">
              <a:buNone/>
            </a:pPr>
            <a:r>
              <a:rPr lang="en-US" sz="1200" dirty="0">
                <a:solidFill>
                  <a:srgbClr val="36454F"/>
                </a:solidFill>
                <a:latin typeface="Calibri" pitchFamily="34" charset="0"/>
                <a:ea typeface="Calibri" pitchFamily="34" charset="-122"/>
                <a:cs typeface="Calibri" pitchFamily="34" charset="-120"/>
              </a:rPr>
              <a:t>Using this model produces better patient outcomes than either alternative across all clinically relevant thresholds</a:t>
            </a:r>
            <a:endParaRPr lang="en-US" sz="1200" dirty="0"/>
          </a:p>
        </p:txBody>
      </p:sp>
      <p:pic>
        <p:nvPicPr>
          <p:cNvPr id="12" name="Picture 11">
            <a:extLst>
              <a:ext uri="{FF2B5EF4-FFF2-40B4-BE49-F238E27FC236}">
                <a16:creationId xmlns:a16="http://schemas.microsoft.com/office/drawing/2014/main" id="{B389847D-827F-81C2-E0F8-504F2FE740DA}"/>
              </a:ext>
            </a:extLst>
          </p:cNvPr>
          <p:cNvPicPr>
            <a:picLocks noChangeAspect="1"/>
          </p:cNvPicPr>
          <p:nvPr/>
        </p:nvPicPr>
        <p:blipFill>
          <a:blip r:embed="rId3"/>
          <a:stretch>
            <a:fillRect/>
          </a:stretch>
        </p:blipFill>
        <p:spPr>
          <a:xfrm>
            <a:off x="190037" y="930806"/>
            <a:ext cx="5342083" cy="41303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55E00"/>
          </a:solidFill>
          <a:ln w="12700">
            <a:solidFill>
              <a:srgbClr val="D55E00"/>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0072B2"/>
          </a:solidFill>
          <a:ln w="12700">
            <a:solidFill>
              <a:srgbClr val="0072B2"/>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A0A0C0"/>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Key Takeaways</a:t>
            </a:r>
            <a:endParaRPr lang="en-US" sz="2800" dirty="0"/>
          </a:p>
        </p:txBody>
      </p:sp>
      <p:sp>
        <p:nvSpPr>
          <p:cNvPr id="6" name="Shape 4"/>
          <p:cNvSpPr/>
          <p:nvPr/>
        </p:nvSpPr>
        <p:spPr>
          <a:xfrm>
            <a:off x="365760" y="1005840"/>
            <a:ext cx="502920" cy="1005840"/>
          </a:xfrm>
          <a:prstGeom prst="rect">
            <a:avLst/>
          </a:prstGeom>
          <a:solidFill>
            <a:srgbClr val="D55E00"/>
          </a:solidFill>
          <a:ln w="12700">
            <a:solidFill>
              <a:srgbClr val="D55E00"/>
            </a:solidFill>
            <a:prstDash val="solid"/>
          </a:ln>
        </p:spPr>
        <p:txBody>
          <a:bodyPr/>
          <a:lstStyle/>
          <a:p>
            <a:endParaRPr lang="en-US"/>
          </a:p>
        </p:txBody>
      </p:sp>
      <p:sp>
        <p:nvSpPr>
          <p:cNvPr id="7" name="Text 5"/>
          <p:cNvSpPr/>
          <p:nvPr/>
        </p:nvSpPr>
        <p:spPr>
          <a:xfrm>
            <a:off x="365760" y="1051560"/>
            <a:ext cx="502920" cy="91440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8" name="Shape 6"/>
          <p:cNvSpPr/>
          <p:nvPr/>
        </p:nvSpPr>
        <p:spPr>
          <a:xfrm>
            <a:off x="1005840" y="1005840"/>
            <a:ext cx="7680960" cy="1005840"/>
          </a:xfrm>
          <a:prstGeom prst="rect">
            <a:avLst/>
          </a:prstGeom>
          <a:solidFill>
            <a:srgbClr val="252547"/>
          </a:solidFill>
          <a:ln w="6350">
            <a:solidFill>
              <a:srgbClr val="A0A0C0"/>
            </a:solidFill>
            <a:prstDash val="solid"/>
          </a:ln>
        </p:spPr>
        <p:txBody>
          <a:bodyPr/>
          <a:lstStyle/>
          <a:p>
            <a:endParaRPr lang="en-US"/>
          </a:p>
        </p:txBody>
      </p:sp>
      <p:sp>
        <p:nvSpPr>
          <p:cNvPr id="9" name="Text 7"/>
          <p:cNvSpPr/>
          <p:nvPr/>
        </p:nvSpPr>
        <p:spPr>
          <a:xfrm>
            <a:off x="1143000" y="1078992"/>
            <a:ext cx="7406640" cy="347472"/>
          </a:xfrm>
          <a:prstGeom prst="rect">
            <a:avLst/>
          </a:prstGeom>
          <a:noFill/>
          <a:ln/>
        </p:spPr>
        <p:txBody>
          <a:bodyPr wrap="square"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Accuracy isn't enough</a:t>
            </a:r>
            <a:endParaRPr lang="en-US" sz="1400" dirty="0"/>
          </a:p>
        </p:txBody>
      </p:sp>
      <p:sp>
        <p:nvSpPr>
          <p:cNvPr id="10" name="Text 8"/>
          <p:cNvSpPr/>
          <p:nvPr/>
        </p:nvSpPr>
        <p:spPr>
          <a:xfrm>
            <a:off x="1143000" y="1444752"/>
            <a:ext cx="7406640" cy="502920"/>
          </a:xfrm>
          <a:prstGeom prst="rect">
            <a:avLst/>
          </a:prstGeom>
          <a:noFill/>
          <a:ln/>
        </p:spPr>
        <p:txBody>
          <a:bodyPr wrap="square" rtlCol="0" anchor="t"/>
          <a:lstStyle/>
          <a:p>
            <a:pPr marL="0" indent="0" algn="l">
              <a:buNone/>
            </a:pPr>
            <a:r>
              <a:rPr lang="en-US" sz="1100" dirty="0">
                <a:solidFill>
                  <a:srgbClr val="A0A0C0"/>
                </a:solidFill>
                <a:latin typeface="Calibri" pitchFamily="34" charset="0"/>
                <a:ea typeface="Calibri" pitchFamily="34" charset="-122"/>
                <a:cs typeface="Calibri" pitchFamily="34" charset="-120"/>
              </a:rPr>
              <a:t>A model with 85.7% accuracy still missed 8 CVD patients at default settings. Clinical validation requires sensitivity, specificity, threshold analysis, and DCA together.</a:t>
            </a:r>
            <a:endParaRPr lang="en-US" sz="1100" dirty="0"/>
          </a:p>
        </p:txBody>
      </p:sp>
      <p:sp>
        <p:nvSpPr>
          <p:cNvPr id="11" name="Shape 9"/>
          <p:cNvSpPr/>
          <p:nvPr/>
        </p:nvSpPr>
        <p:spPr>
          <a:xfrm>
            <a:off x="365760" y="2240280"/>
            <a:ext cx="502920" cy="1005840"/>
          </a:xfrm>
          <a:prstGeom prst="rect">
            <a:avLst/>
          </a:prstGeom>
          <a:solidFill>
            <a:srgbClr val="D55E00"/>
          </a:solidFill>
          <a:ln w="12700">
            <a:solidFill>
              <a:srgbClr val="D55E00"/>
            </a:solidFill>
            <a:prstDash val="solid"/>
          </a:ln>
        </p:spPr>
        <p:txBody>
          <a:bodyPr/>
          <a:lstStyle/>
          <a:p>
            <a:endParaRPr lang="en-US"/>
          </a:p>
        </p:txBody>
      </p:sp>
      <p:sp>
        <p:nvSpPr>
          <p:cNvPr id="12" name="Text 10"/>
          <p:cNvSpPr/>
          <p:nvPr/>
        </p:nvSpPr>
        <p:spPr>
          <a:xfrm>
            <a:off x="365760" y="2286000"/>
            <a:ext cx="502920" cy="91440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3" name="Shape 11"/>
          <p:cNvSpPr/>
          <p:nvPr/>
        </p:nvSpPr>
        <p:spPr>
          <a:xfrm>
            <a:off x="1005840" y="2240280"/>
            <a:ext cx="7680960" cy="1005840"/>
          </a:xfrm>
          <a:prstGeom prst="rect">
            <a:avLst/>
          </a:prstGeom>
          <a:solidFill>
            <a:srgbClr val="252547"/>
          </a:solidFill>
          <a:ln w="6350">
            <a:solidFill>
              <a:srgbClr val="A0A0C0"/>
            </a:solidFill>
            <a:prstDash val="solid"/>
          </a:ln>
        </p:spPr>
        <p:txBody>
          <a:bodyPr/>
          <a:lstStyle/>
          <a:p>
            <a:endParaRPr lang="en-US"/>
          </a:p>
        </p:txBody>
      </p:sp>
      <p:sp>
        <p:nvSpPr>
          <p:cNvPr id="14" name="Text 12"/>
          <p:cNvSpPr/>
          <p:nvPr/>
        </p:nvSpPr>
        <p:spPr>
          <a:xfrm>
            <a:off x="1143000" y="2313432"/>
            <a:ext cx="7406640" cy="347472"/>
          </a:xfrm>
          <a:prstGeom prst="rect">
            <a:avLst/>
          </a:prstGeom>
          <a:noFill/>
          <a:ln/>
        </p:spPr>
        <p:txBody>
          <a:bodyPr wrap="square"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Simplicity won</a:t>
            </a:r>
            <a:endParaRPr lang="en-US" sz="1400" dirty="0"/>
          </a:p>
        </p:txBody>
      </p:sp>
      <p:sp>
        <p:nvSpPr>
          <p:cNvPr id="15" name="Text 13"/>
          <p:cNvSpPr/>
          <p:nvPr/>
        </p:nvSpPr>
        <p:spPr>
          <a:xfrm>
            <a:off x="1143000" y="2679192"/>
            <a:ext cx="7406640" cy="502920"/>
          </a:xfrm>
          <a:prstGeom prst="rect">
            <a:avLst/>
          </a:prstGeom>
          <a:noFill/>
          <a:ln/>
        </p:spPr>
        <p:txBody>
          <a:bodyPr wrap="square" rtlCol="0" anchor="t"/>
          <a:lstStyle/>
          <a:p>
            <a:pPr marL="0" indent="0" algn="l">
              <a:buNone/>
            </a:pPr>
            <a:r>
              <a:rPr lang="en-US" sz="1100" dirty="0">
                <a:solidFill>
                  <a:srgbClr val="A0A0C0"/>
                </a:solidFill>
                <a:latin typeface="Calibri" pitchFamily="34" charset="0"/>
                <a:ea typeface="Calibri" pitchFamily="34" charset="-122"/>
                <a:cs typeface="Calibri" pitchFamily="34" charset="-120"/>
              </a:rPr>
              <a:t>Logistic Regression outperformed Random Forest and XGBoost — consistent with published literature on small clinical datasets (Christodoulou 2019).</a:t>
            </a:r>
            <a:endParaRPr lang="en-US" sz="1100" dirty="0"/>
          </a:p>
        </p:txBody>
      </p:sp>
      <p:sp>
        <p:nvSpPr>
          <p:cNvPr id="16" name="Shape 14"/>
          <p:cNvSpPr/>
          <p:nvPr/>
        </p:nvSpPr>
        <p:spPr>
          <a:xfrm>
            <a:off x="365760" y="3474720"/>
            <a:ext cx="502920" cy="1005840"/>
          </a:xfrm>
          <a:prstGeom prst="rect">
            <a:avLst/>
          </a:prstGeom>
          <a:solidFill>
            <a:srgbClr val="D55E00"/>
          </a:solidFill>
          <a:ln w="12700">
            <a:solidFill>
              <a:srgbClr val="D55E00"/>
            </a:solidFill>
            <a:prstDash val="solid"/>
          </a:ln>
        </p:spPr>
        <p:txBody>
          <a:bodyPr/>
          <a:lstStyle/>
          <a:p>
            <a:endParaRPr lang="en-US"/>
          </a:p>
        </p:txBody>
      </p:sp>
      <p:sp>
        <p:nvSpPr>
          <p:cNvPr id="17" name="Text 15"/>
          <p:cNvSpPr/>
          <p:nvPr/>
        </p:nvSpPr>
        <p:spPr>
          <a:xfrm>
            <a:off x="365760" y="3520440"/>
            <a:ext cx="502920" cy="91440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18" name="Shape 16"/>
          <p:cNvSpPr/>
          <p:nvPr/>
        </p:nvSpPr>
        <p:spPr>
          <a:xfrm>
            <a:off x="1005840" y="3474720"/>
            <a:ext cx="7680960" cy="1005840"/>
          </a:xfrm>
          <a:prstGeom prst="rect">
            <a:avLst/>
          </a:prstGeom>
          <a:solidFill>
            <a:srgbClr val="252547"/>
          </a:solidFill>
          <a:ln w="6350">
            <a:solidFill>
              <a:srgbClr val="A0A0C0"/>
            </a:solidFill>
            <a:prstDash val="solid"/>
          </a:ln>
        </p:spPr>
        <p:txBody>
          <a:bodyPr/>
          <a:lstStyle/>
          <a:p>
            <a:endParaRPr lang="en-US"/>
          </a:p>
        </p:txBody>
      </p:sp>
      <p:sp>
        <p:nvSpPr>
          <p:cNvPr id="19" name="Text 17"/>
          <p:cNvSpPr/>
          <p:nvPr/>
        </p:nvSpPr>
        <p:spPr>
          <a:xfrm>
            <a:off x="1143000" y="3547872"/>
            <a:ext cx="7406640" cy="347472"/>
          </a:xfrm>
          <a:prstGeom prst="rect">
            <a:avLst/>
          </a:prstGeom>
          <a:noFill/>
          <a:ln/>
        </p:spPr>
        <p:txBody>
          <a:bodyPr wrap="square"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Threshold optimization is clinical</a:t>
            </a:r>
            <a:endParaRPr lang="en-US" sz="1400" dirty="0"/>
          </a:p>
        </p:txBody>
      </p:sp>
      <p:sp>
        <p:nvSpPr>
          <p:cNvPr id="20" name="Text 18"/>
          <p:cNvSpPr/>
          <p:nvPr/>
        </p:nvSpPr>
        <p:spPr>
          <a:xfrm>
            <a:off x="1143000" y="3913632"/>
            <a:ext cx="7406640" cy="502920"/>
          </a:xfrm>
          <a:prstGeom prst="rect">
            <a:avLst/>
          </a:prstGeom>
          <a:noFill/>
          <a:ln/>
        </p:spPr>
        <p:txBody>
          <a:bodyPr wrap="square" rtlCol="0" anchor="t"/>
          <a:lstStyle/>
          <a:p>
            <a:pPr marL="0" indent="0" algn="l">
              <a:buNone/>
            </a:pPr>
            <a:r>
              <a:rPr lang="en-US" sz="1100" dirty="0">
                <a:solidFill>
                  <a:srgbClr val="A0A0C0"/>
                </a:solidFill>
                <a:latin typeface="Calibri" pitchFamily="34" charset="0"/>
                <a:ea typeface="Calibri" pitchFamily="34" charset="-122"/>
                <a:cs typeface="Calibri" pitchFamily="34" charset="-120"/>
              </a:rPr>
              <a:t>At the optimized threshold of 0.25, LR CSL caught 94.9% of CVD cases. The threshold is a clinical decision, not a statistical default.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55E00"/>
          </a:solidFill>
          <a:ln w="12700">
            <a:solidFill>
              <a:srgbClr val="D55E00"/>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0072B2"/>
          </a:solidFill>
          <a:ln w="12700">
            <a:solidFill>
              <a:srgbClr val="0072B2"/>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A0A0C0"/>
                </a:solidFill>
                <a:latin typeface="Calibri" pitchFamily="34" charset="0"/>
                <a:ea typeface="Calibri" pitchFamily="34" charset="-122"/>
                <a:cs typeface="Calibri" pitchFamily="34" charset="-120"/>
              </a:rPr>
              <a:t>14</a:t>
            </a:r>
            <a:endParaRPr lang="en-US" sz="1000" dirty="0"/>
          </a:p>
        </p:txBody>
      </p:sp>
      <p:sp>
        <p:nvSpPr>
          <p:cNvPr id="5" name="Text 3"/>
          <p:cNvSpPr/>
          <p:nvPr/>
        </p:nvSpPr>
        <p:spPr>
          <a:xfrm>
            <a:off x="457200" y="91440"/>
            <a:ext cx="8229600" cy="731520"/>
          </a:xfrm>
          <a:prstGeom prst="rect">
            <a:avLst/>
          </a:prstGeom>
          <a:noFill/>
          <a:ln/>
        </p:spPr>
        <p:txBody>
          <a:bodyPr wrap="square" lIns="0" tIns="0" rIns="0" bIns="0" rtlCol="0" anchor="ctr"/>
          <a:lstStyle/>
          <a:p>
            <a:pPr marL="0" indent="0" algn="l">
              <a:buNone/>
            </a:pPr>
            <a:r>
              <a:rPr lang="en-US" sz="2400" b="1" dirty="0">
                <a:solidFill>
                  <a:srgbClr val="FFFFFF"/>
                </a:solidFill>
                <a:latin typeface="Trebuchet MS" pitchFamily="34" charset="0"/>
                <a:ea typeface="Trebuchet MS" pitchFamily="34" charset="-122"/>
                <a:cs typeface="Trebuchet MS" pitchFamily="34" charset="-120"/>
              </a:rPr>
              <a:t>What You Should Know Before Using This Model</a:t>
            </a:r>
            <a:endParaRPr lang="en-US" sz="2400" dirty="0"/>
          </a:p>
        </p:txBody>
      </p:sp>
      <p:sp>
        <p:nvSpPr>
          <p:cNvPr id="6" name="Shape 4"/>
          <p:cNvSpPr/>
          <p:nvPr/>
        </p:nvSpPr>
        <p:spPr>
          <a:xfrm>
            <a:off x="365760" y="1005840"/>
            <a:ext cx="4023360" cy="1508760"/>
          </a:xfrm>
          <a:prstGeom prst="rect">
            <a:avLst/>
          </a:prstGeom>
          <a:solidFill>
            <a:srgbClr val="252547"/>
          </a:solidFill>
          <a:ln w="6350">
            <a:solidFill>
              <a:srgbClr val="A0A0C0"/>
            </a:solidFill>
            <a:prstDash val="solid"/>
          </a:ln>
        </p:spPr>
        <p:txBody>
          <a:bodyPr/>
          <a:lstStyle/>
          <a:p>
            <a:endParaRPr lang="en-US"/>
          </a:p>
        </p:txBody>
      </p:sp>
      <p:sp>
        <p:nvSpPr>
          <p:cNvPr id="7" name="Shape 5"/>
          <p:cNvSpPr/>
          <p:nvPr/>
        </p:nvSpPr>
        <p:spPr>
          <a:xfrm>
            <a:off x="365760" y="1005840"/>
            <a:ext cx="54864" cy="1508760"/>
          </a:xfrm>
          <a:prstGeom prst="rect">
            <a:avLst/>
          </a:prstGeom>
          <a:solidFill>
            <a:srgbClr val="D55E00"/>
          </a:solidFill>
          <a:ln w="12700">
            <a:solidFill>
              <a:srgbClr val="D55E00"/>
            </a:solidFill>
            <a:prstDash val="solid"/>
          </a:ln>
        </p:spPr>
        <p:txBody>
          <a:bodyPr/>
          <a:lstStyle/>
          <a:p>
            <a:endParaRPr lang="en-US"/>
          </a:p>
        </p:txBody>
      </p:sp>
      <p:sp>
        <p:nvSpPr>
          <p:cNvPr id="8" name="Text 6"/>
          <p:cNvSpPr/>
          <p:nvPr/>
        </p:nvSpPr>
        <p:spPr>
          <a:xfrm>
            <a:off x="502920" y="1097280"/>
            <a:ext cx="3749040" cy="347472"/>
          </a:xfrm>
          <a:prstGeom prst="rect">
            <a:avLst/>
          </a:prstGeom>
          <a:noFill/>
          <a:ln/>
        </p:spPr>
        <p:txBody>
          <a:bodyPr wrap="square"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Small Sample</a:t>
            </a:r>
            <a:endParaRPr lang="en-US" sz="1300" dirty="0"/>
          </a:p>
        </p:txBody>
      </p:sp>
      <p:sp>
        <p:nvSpPr>
          <p:cNvPr id="9" name="Text 7"/>
          <p:cNvSpPr/>
          <p:nvPr/>
        </p:nvSpPr>
        <p:spPr>
          <a:xfrm>
            <a:off x="502920" y="1481328"/>
            <a:ext cx="3749040" cy="914400"/>
          </a:xfrm>
          <a:prstGeom prst="rect">
            <a:avLst/>
          </a:prstGeom>
          <a:noFill/>
          <a:ln/>
        </p:spPr>
        <p:txBody>
          <a:bodyPr wrap="square" rtlCol="0" anchor="t"/>
          <a:lstStyle/>
          <a:p>
            <a:pPr marL="0" indent="0" algn="l">
              <a:buNone/>
            </a:pPr>
            <a:r>
              <a:rPr lang="en-US" sz="1100" dirty="0">
                <a:solidFill>
                  <a:srgbClr val="A0A0C0"/>
                </a:solidFill>
                <a:latin typeface="Calibri" pitchFamily="34" charset="0"/>
                <a:ea typeface="Calibri" pitchFamily="34" charset="-122"/>
                <a:cs typeface="Calibri" pitchFamily="34" charset="-120"/>
              </a:rPr>
              <a:t>n=297 from a single institution in 1988. Results may not generalize to modern, diverse populations.</a:t>
            </a:r>
            <a:endParaRPr lang="en-US" sz="1100" dirty="0"/>
          </a:p>
        </p:txBody>
      </p:sp>
      <p:sp>
        <p:nvSpPr>
          <p:cNvPr id="10" name="Shape 8"/>
          <p:cNvSpPr/>
          <p:nvPr/>
        </p:nvSpPr>
        <p:spPr>
          <a:xfrm>
            <a:off x="365760" y="2743200"/>
            <a:ext cx="4023360" cy="1508760"/>
          </a:xfrm>
          <a:prstGeom prst="rect">
            <a:avLst/>
          </a:prstGeom>
          <a:solidFill>
            <a:srgbClr val="252547"/>
          </a:solidFill>
          <a:ln w="6350">
            <a:solidFill>
              <a:srgbClr val="A0A0C0"/>
            </a:solidFill>
            <a:prstDash val="solid"/>
          </a:ln>
        </p:spPr>
        <p:txBody>
          <a:bodyPr/>
          <a:lstStyle/>
          <a:p>
            <a:endParaRPr lang="en-US"/>
          </a:p>
        </p:txBody>
      </p:sp>
      <p:sp>
        <p:nvSpPr>
          <p:cNvPr id="11" name="Shape 9"/>
          <p:cNvSpPr/>
          <p:nvPr/>
        </p:nvSpPr>
        <p:spPr>
          <a:xfrm>
            <a:off x="365760" y="2743200"/>
            <a:ext cx="54864" cy="1508760"/>
          </a:xfrm>
          <a:prstGeom prst="rect">
            <a:avLst/>
          </a:prstGeom>
          <a:solidFill>
            <a:srgbClr val="D55E00"/>
          </a:solidFill>
          <a:ln w="12700">
            <a:solidFill>
              <a:srgbClr val="D55E00"/>
            </a:solidFill>
            <a:prstDash val="solid"/>
          </a:ln>
        </p:spPr>
        <p:txBody>
          <a:bodyPr/>
          <a:lstStyle/>
          <a:p>
            <a:endParaRPr lang="en-US"/>
          </a:p>
        </p:txBody>
      </p:sp>
      <p:sp>
        <p:nvSpPr>
          <p:cNvPr id="12" name="Text 10"/>
          <p:cNvSpPr/>
          <p:nvPr/>
        </p:nvSpPr>
        <p:spPr>
          <a:xfrm>
            <a:off x="502920" y="2834640"/>
            <a:ext cx="3749040" cy="347472"/>
          </a:xfrm>
          <a:prstGeom prst="rect">
            <a:avLst/>
          </a:prstGeom>
          <a:noFill/>
          <a:ln/>
        </p:spPr>
        <p:txBody>
          <a:bodyPr wrap="square"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Proxy Leakage</a:t>
            </a:r>
            <a:endParaRPr lang="en-US" sz="1300" dirty="0"/>
          </a:p>
        </p:txBody>
      </p:sp>
      <p:sp>
        <p:nvSpPr>
          <p:cNvPr id="13" name="Text 11"/>
          <p:cNvSpPr/>
          <p:nvPr/>
        </p:nvSpPr>
        <p:spPr>
          <a:xfrm>
            <a:off x="502920" y="3218688"/>
            <a:ext cx="3749040" cy="914400"/>
          </a:xfrm>
          <a:prstGeom prst="rect">
            <a:avLst/>
          </a:prstGeom>
          <a:noFill/>
          <a:ln/>
        </p:spPr>
        <p:txBody>
          <a:bodyPr wrap="square" rtlCol="0" anchor="t"/>
          <a:lstStyle/>
          <a:p>
            <a:pPr marL="0" indent="0" algn="l">
              <a:buNone/>
            </a:pPr>
            <a:r>
              <a:rPr lang="en-US" sz="1100" dirty="0">
                <a:solidFill>
                  <a:srgbClr val="A0A0C0"/>
                </a:solidFill>
                <a:latin typeface="Calibri" pitchFamily="34" charset="0"/>
                <a:ea typeface="Calibri" pitchFamily="34" charset="-122"/>
                <a:cs typeface="Calibri" pitchFamily="34" charset="-120"/>
              </a:rPr>
              <a:t>Several features (ca, thal, st_severity) are measured during diagnostic testing — this is a classification tool, not a prospective risk predictor.</a:t>
            </a:r>
            <a:endParaRPr lang="en-US" sz="1100" dirty="0"/>
          </a:p>
        </p:txBody>
      </p:sp>
      <p:sp>
        <p:nvSpPr>
          <p:cNvPr id="14" name="Shape 12"/>
          <p:cNvSpPr/>
          <p:nvPr/>
        </p:nvSpPr>
        <p:spPr>
          <a:xfrm>
            <a:off x="4754880" y="1005840"/>
            <a:ext cx="4023360" cy="1508760"/>
          </a:xfrm>
          <a:prstGeom prst="rect">
            <a:avLst/>
          </a:prstGeom>
          <a:solidFill>
            <a:srgbClr val="252547"/>
          </a:solidFill>
          <a:ln w="6350">
            <a:solidFill>
              <a:srgbClr val="A0A0C0"/>
            </a:solidFill>
            <a:prstDash val="solid"/>
          </a:ln>
        </p:spPr>
        <p:txBody>
          <a:bodyPr/>
          <a:lstStyle/>
          <a:p>
            <a:endParaRPr lang="en-US"/>
          </a:p>
        </p:txBody>
      </p:sp>
      <p:sp>
        <p:nvSpPr>
          <p:cNvPr id="15" name="Shape 13"/>
          <p:cNvSpPr/>
          <p:nvPr/>
        </p:nvSpPr>
        <p:spPr>
          <a:xfrm>
            <a:off x="4754880" y="1005840"/>
            <a:ext cx="54864" cy="1508760"/>
          </a:xfrm>
          <a:prstGeom prst="rect">
            <a:avLst/>
          </a:prstGeom>
          <a:solidFill>
            <a:srgbClr val="D55E00"/>
          </a:solidFill>
          <a:ln w="12700">
            <a:solidFill>
              <a:srgbClr val="D55E00"/>
            </a:solidFill>
            <a:prstDash val="solid"/>
          </a:ln>
        </p:spPr>
        <p:txBody>
          <a:bodyPr/>
          <a:lstStyle/>
          <a:p>
            <a:endParaRPr lang="en-US"/>
          </a:p>
        </p:txBody>
      </p:sp>
      <p:sp>
        <p:nvSpPr>
          <p:cNvPr id="16" name="Text 14"/>
          <p:cNvSpPr/>
          <p:nvPr/>
        </p:nvSpPr>
        <p:spPr>
          <a:xfrm>
            <a:off x="4892040" y="1097280"/>
            <a:ext cx="3749040" cy="347472"/>
          </a:xfrm>
          <a:prstGeom prst="rect">
            <a:avLst/>
          </a:prstGeom>
          <a:noFill/>
          <a:ln/>
        </p:spPr>
        <p:txBody>
          <a:bodyPr wrap="square"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Not FDA Cleared</a:t>
            </a:r>
            <a:endParaRPr lang="en-US" sz="1300" dirty="0"/>
          </a:p>
        </p:txBody>
      </p:sp>
      <p:sp>
        <p:nvSpPr>
          <p:cNvPr id="17" name="Text 15"/>
          <p:cNvSpPr/>
          <p:nvPr/>
        </p:nvSpPr>
        <p:spPr>
          <a:xfrm>
            <a:off x="4892040" y="1481328"/>
            <a:ext cx="3749040" cy="914400"/>
          </a:xfrm>
          <a:prstGeom prst="rect">
            <a:avLst/>
          </a:prstGeom>
          <a:noFill/>
          <a:ln/>
        </p:spPr>
        <p:txBody>
          <a:bodyPr wrap="square" rtlCol="0" anchor="t"/>
          <a:lstStyle/>
          <a:p>
            <a:pPr marL="0" indent="0" algn="l">
              <a:buNone/>
            </a:pPr>
            <a:r>
              <a:rPr lang="en-US" sz="1100" dirty="0">
                <a:solidFill>
                  <a:srgbClr val="A0A0C0"/>
                </a:solidFill>
                <a:latin typeface="Calibri" pitchFamily="34" charset="0"/>
                <a:ea typeface="Calibri" pitchFamily="34" charset="-122"/>
                <a:cs typeface="Calibri" pitchFamily="34" charset="-120"/>
              </a:rPr>
              <a:t>This model has not been validated for clinical deployment. It requires further external validation, regulatory review, and institutional approval.</a:t>
            </a:r>
            <a:endParaRPr lang="en-US" sz="1100" dirty="0"/>
          </a:p>
        </p:txBody>
      </p:sp>
      <p:sp>
        <p:nvSpPr>
          <p:cNvPr id="18" name="Shape 16"/>
          <p:cNvSpPr/>
          <p:nvPr/>
        </p:nvSpPr>
        <p:spPr>
          <a:xfrm>
            <a:off x="4754880" y="2743200"/>
            <a:ext cx="4023360" cy="1508760"/>
          </a:xfrm>
          <a:prstGeom prst="rect">
            <a:avLst/>
          </a:prstGeom>
          <a:solidFill>
            <a:srgbClr val="252547"/>
          </a:solidFill>
          <a:ln w="6350">
            <a:solidFill>
              <a:srgbClr val="A0A0C0"/>
            </a:solidFill>
            <a:prstDash val="solid"/>
          </a:ln>
        </p:spPr>
        <p:txBody>
          <a:bodyPr/>
          <a:lstStyle/>
          <a:p>
            <a:endParaRPr lang="en-US"/>
          </a:p>
        </p:txBody>
      </p:sp>
      <p:sp>
        <p:nvSpPr>
          <p:cNvPr id="19" name="Shape 17"/>
          <p:cNvSpPr/>
          <p:nvPr/>
        </p:nvSpPr>
        <p:spPr>
          <a:xfrm>
            <a:off x="4754880" y="2743200"/>
            <a:ext cx="54864" cy="1508760"/>
          </a:xfrm>
          <a:prstGeom prst="rect">
            <a:avLst/>
          </a:prstGeom>
          <a:solidFill>
            <a:srgbClr val="D55E00"/>
          </a:solidFill>
          <a:ln w="12700">
            <a:solidFill>
              <a:srgbClr val="D55E00"/>
            </a:solidFill>
            <a:prstDash val="solid"/>
          </a:ln>
        </p:spPr>
        <p:txBody>
          <a:bodyPr/>
          <a:lstStyle/>
          <a:p>
            <a:endParaRPr lang="en-US"/>
          </a:p>
        </p:txBody>
      </p:sp>
      <p:sp>
        <p:nvSpPr>
          <p:cNvPr id="20" name="Text 18"/>
          <p:cNvSpPr/>
          <p:nvPr/>
        </p:nvSpPr>
        <p:spPr>
          <a:xfrm>
            <a:off x="4892040" y="2834640"/>
            <a:ext cx="3749040" cy="347472"/>
          </a:xfrm>
          <a:prstGeom prst="rect">
            <a:avLst/>
          </a:prstGeom>
          <a:noFill/>
          <a:ln/>
        </p:spPr>
        <p:txBody>
          <a:bodyPr wrap="square"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Dataset Age</a:t>
            </a:r>
            <a:endParaRPr lang="en-US" sz="1300" dirty="0"/>
          </a:p>
        </p:txBody>
      </p:sp>
      <p:sp>
        <p:nvSpPr>
          <p:cNvPr id="21" name="Text 19"/>
          <p:cNvSpPr/>
          <p:nvPr/>
        </p:nvSpPr>
        <p:spPr>
          <a:xfrm>
            <a:off x="4892040" y="3218688"/>
            <a:ext cx="3749040" cy="914400"/>
          </a:xfrm>
          <a:prstGeom prst="rect">
            <a:avLst/>
          </a:prstGeom>
          <a:noFill/>
          <a:ln/>
        </p:spPr>
        <p:txBody>
          <a:bodyPr wrap="square" rtlCol="0" anchor="t"/>
          <a:lstStyle/>
          <a:p>
            <a:pPr marL="0" indent="0" algn="l">
              <a:buNone/>
            </a:pPr>
            <a:r>
              <a:rPr lang="en-US" sz="1100" dirty="0">
                <a:solidFill>
                  <a:srgbClr val="A0A0C0"/>
                </a:solidFill>
                <a:latin typeface="Calibri" pitchFamily="34" charset="0"/>
                <a:ea typeface="Calibri" pitchFamily="34" charset="-122"/>
                <a:cs typeface="Calibri" pitchFamily="34" charset="-120"/>
              </a:rPr>
              <a:t>1988 data does not include modern biomarkers (high-sensitivity troponin, BNP) or contemporary ACC/AHA risk variables.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55E00"/>
          </a:solidFill>
          <a:ln w="12700">
            <a:solidFill>
              <a:srgbClr val="D55E00"/>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0072B2"/>
          </a:solidFill>
          <a:ln w="12700">
            <a:solidFill>
              <a:srgbClr val="0072B2"/>
            </a:solidFill>
            <a:prstDash val="solid"/>
          </a:ln>
        </p:spPr>
        <p:txBody>
          <a:bodyPr/>
          <a:lstStyle/>
          <a:p>
            <a:endParaRPr lang="en-US"/>
          </a:p>
        </p:txBody>
      </p:sp>
      <p:sp>
        <p:nvSpPr>
          <p:cNvPr id="4" name="Text 2"/>
          <p:cNvSpPr/>
          <p:nvPr/>
        </p:nvSpPr>
        <p:spPr>
          <a:xfrm>
            <a:off x="8595360" y="4754880"/>
            <a:ext cx="457200" cy="274320"/>
          </a:xfrm>
          <a:prstGeom prst="rect">
            <a:avLst/>
          </a:prstGeom>
          <a:noFill/>
          <a:ln/>
        </p:spPr>
        <p:txBody>
          <a:bodyPr wrap="square" rtlCol="0" anchor="ctr"/>
          <a:lstStyle/>
          <a:p>
            <a:pPr marL="0" indent="0" algn="r">
              <a:buNone/>
            </a:pPr>
            <a:r>
              <a:rPr lang="en-US" sz="1000" dirty="0">
                <a:solidFill>
                  <a:srgbClr val="A0A0C0"/>
                </a:solidFill>
                <a:latin typeface="Calibri" pitchFamily="34" charset="0"/>
                <a:ea typeface="Calibri" pitchFamily="34" charset="-122"/>
                <a:cs typeface="Calibri" pitchFamily="34" charset="-120"/>
              </a:rPr>
              <a:t>15</a:t>
            </a:r>
            <a:endParaRPr lang="en-US" sz="1000" dirty="0"/>
          </a:p>
        </p:txBody>
      </p:sp>
      <p:sp>
        <p:nvSpPr>
          <p:cNvPr id="5" name="Text 3"/>
          <p:cNvSpPr/>
          <p:nvPr/>
        </p:nvSpPr>
        <p:spPr>
          <a:xfrm>
            <a:off x="457200" y="164592"/>
            <a:ext cx="822960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Recommendations &amp; Next Steps</a:t>
            </a:r>
            <a:endParaRPr lang="en-US" sz="2800" dirty="0"/>
          </a:p>
        </p:txBody>
      </p:sp>
      <p:sp>
        <p:nvSpPr>
          <p:cNvPr id="6" name="Shape 4"/>
          <p:cNvSpPr/>
          <p:nvPr/>
        </p:nvSpPr>
        <p:spPr>
          <a:xfrm>
            <a:off x="365760" y="960120"/>
            <a:ext cx="4023360" cy="3840480"/>
          </a:xfrm>
          <a:prstGeom prst="rect">
            <a:avLst/>
          </a:prstGeom>
          <a:solidFill>
            <a:srgbClr val="0072B2"/>
          </a:solidFill>
          <a:ln w="12700">
            <a:solidFill>
              <a:srgbClr val="0072B2"/>
            </a:solidFill>
            <a:prstDash val="solid"/>
          </a:ln>
        </p:spPr>
        <p:txBody>
          <a:bodyPr/>
          <a:lstStyle/>
          <a:p>
            <a:endParaRPr lang="en-US"/>
          </a:p>
        </p:txBody>
      </p:sp>
      <p:sp>
        <p:nvSpPr>
          <p:cNvPr id="7" name="Text 5"/>
          <p:cNvSpPr/>
          <p:nvPr/>
        </p:nvSpPr>
        <p:spPr>
          <a:xfrm>
            <a:off x="457200" y="1033272"/>
            <a:ext cx="3840480" cy="411480"/>
          </a:xfrm>
          <a:prstGeom prst="rect">
            <a:avLst/>
          </a:prstGeom>
          <a:noFill/>
          <a:ln/>
        </p:spPr>
        <p:txBody>
          <a:bodyPr wrap="square"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For Clinical AI Developers</a:t>
            </a:r>
            <a:endParaRPr lang="en-US" sz="1400" dirty="0"/>
          </a:p>
        </p:txBody>
      </p:sp>
      <p:sp>
        <p:nvSpPr>
          <p:cNvPr id="8" name="Text 6"/>
          <p:cNvSpPr/>
          <p:nvPr/>
        </p:nvSpPr>
        <p:spPr>
          <a:xfrm>
            <a:off x="502920" y="1508760"/>
            <a:ext cx="3749040" cy="3108960"/>
          </a:xfrm>
          <a:prstGeom prst="rect">
            <a:avLst/>
          </a:prstGeom>
          <a:noFill/>
          <a:ln/>
        </p:spPr>
        <p:txBody>
          <a:bodyPr wrap="square"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 Validate on larger, modern dataset (n&gt;10,000)</a:t>
            </a:r>
            <a:endParaRPr lang="en-US" sz="1200" dirty="0"/>
          </a:p>
          <a:p>
            <a:pPr marL="0" indent="0" algn="l">
              <a:buNone/>
            </a:pP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 Include contemporary biomarkers (troponin, BNP)</a:t>
            </a:r>
            <a:endParaRPr lang="en-US" sz="1200" dirty="0"/>
          </a:p>
          <a:p>
            <a:pPr marL="0" indent="0" algn="l">
              <a:buNone/>
            </a:pP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 External validation across multiple institutions</a:t>
            </a:r>
            <a:endParaRPr lang="en-US" sz="1200" dirty="0"/>
          </a:p>
          <a:p>
            <a:pPr marL="0" indent="0" algn="l">
              <a:buNone/>
            </a:pP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 Pursue FDA clearance pathway for clinical deployment</a:t>
            </a:r>
            <a:endParaRPr lang="en-US" sz="1200" dirty="0"/>
          </a:p>
        </p:txBody>
      </p:sp>
      <p:sp>
        <p:nvSpPr>
          <p:cNvPr id="9" name="Shape 7"/>
          <p:cNvSpPr/>
          <p:nvPr/>
        </p:nvSpPr>
        <p:spPr>
          <a:xfrm>
            <a:off x="4754880" y="960120"/>
            <a:ext cx="4023360" cy="3840480"/>
          </a:xfrm>
          <a:prstGeom prst="rect">
            <a:avLst/>
          </a:prstGeom>
          <a:solidFill>
            <a:srgbClr val="252547"/>
          </a:solidFill>
          <a:ln w="12700">
            <a:solidFill>
              <a:srgbClr val="A0A0C0"/>
            </a:solidFill>
            <a:prstDash val="solid"/>
          </a:ln>
        </p:spPr>
        <p:txBody>
          <a:bodyPr/>
          <a:lstStyle/>
          <a:p>
            <a:endParaRPr lang="en-US"/>
          </a:p>
        </p:txBody>
      </p:sp>
      <p:sp>
        <p:nvSpPr>
          <p:cNvPr id="10" name="Text 8"/>
          <p:cNvSpPr/>
          <p:nvPr/>
        </p:nvSpPr>
        <p:spPr>
          <a:xfrm>
            <a:off x="4846320" y="1033272"/>
            <a:ext cx="3840480" cy="411480"/>
          </a:xfrm>
          <a:prstGeom prst="rect">
            <a:avLst/>
          </a:prstGeom>
          <a:noFill/>
          <a:ln/>
        </p:spPr>
        <p:txBody>
          <a:bodyPr wrap="square" rtlCol="0" anchor="ctr"/>
          <a:lstStyle/>
          <a:p>
            <a:pPr marL="0" indent="0" algn="l">
              <a:buNone/>
            </a:pPr>
            <a:r>
              <a:rPr lang="en-US" sz="1400" b="1" dirty="0">
                <a:solidFill>
                  <a:srgbClr val="56B4E9"/>
                </a:solidFill>
                <a:latin typeface="Trebuchet MS" pitchFamily="34" charset="0"/>
                <a:ea typeface="Trebuchet MS" pitchFamily="34" charset="-122"/>
                <a:cs typeface="Trebuchet MS" pitchFamily="34" charset="-120"/>
              </a:rPr>
              <a:t>For Cardiologists</a:t>
            </a:r>
            <a:endParaRPr lang="en-US" sz="1400" dirty="0"/>
          </a:p>
        </p:txBody>
      </p:sp>
      <p:sp>
        <p:nvSpPr>
          <p:cNvPr id="11" name="Text 9"/>
          <p:cNvSpPr/>
          <p:nvPr/>
        </p:nvSpPr>
        <p:spPr>
          <a:xfrm>
            <a:off x="4892040" y="1508760"/>
            <a:ext cx="3749040" cy="3108960"/>
          </a:xfrm>
          <a:prstGeom prst="rect">
            <a:avLst/>
          </a:prstGeom>
          <a:noFill/>
          <a:ln/>
        </p:spPr>
        <p:txBody>
          <a:bodyPr wrap="square" rtlCol="0" anchor="t"/>
          <a:lstStyle/>
          <a:p>
            <a:pPr marL="0" indent="0" algn="l">
              <a:buNone/>
            </a:pPr>
            <a:r>
              <a:rPr lang="en-US" sz="1200" dirty="0">
                <a:solidFill>
                  <a:srgbClr val="A0A0C0"/>
                </a:solidFill>
                <a:latin typeface="Calibri" pitchFamily="34" charset="0"/>
                <a:ea typeface="Calibri" pitchFamily="34" charset="-122"/>
                <a:cs typeface="Calibri" pitchFamily="34" charset="-120"/>
              </a:rPr>
              <a:t>• Threshold of 0.25 recommended for screening contexts — flag patients with ≥25% predicted probability</a:t>
            </a:r>
            <a:endParaRPr lang="en-US" sz="1200" dirty="0"/>
          </a:p>
          <a:p>
            <a:pPr marL="0" indent="0" algn="l">
              <a:buNone/>
            </a:pPr>
            <a:endParaRPr lang="en-US" sz="1200" dirty="0"/>
          </a:p>
          <a:p>
            <a:pPr marL="0" indent="0" algn="l">
              <a:buNone/>
            </a:pPr>
            <a:r>
              <a:rPr lang="en-US" sz="1200" dirty="0">
                <a:solidFill>
                  <a:srgbClr val="A0A0C0"/>
                </a:solidFill>
                <a:latin typeface="Calibri" pitchFamily="34" charset="0"/>
                <a:ea typeface="Calibri" pitchFamily="34" charset="-122"/>
                <a:cs typeface="Calibri" pitchFamily="34" charset="-120"/>
              </a:rPr>
              <a:t>• Model should support, not replace, clinical judgment</a:t>
            </a:r>
            <a:endParaRPr lang="en-US" sz="1200" dirty="0"/>
          </a:p>
          <a:p>
            <a:pPr marL="0" indent="0" algn="l">
              <a:buNone/>
            </a:pPr>
            <a:endParaRPr lang="en-US" sz="1200" dirty="0"/>
          </a:p>
          <a:p>
            <a:pPr marL="0" indent="0" algn="l">
              <a:buNone/>
            </a:pPr>
            <a:r>
              <a:rPr lang="en-US" sz="1200" dirty="0">
                <a:solidFill>
                  <a:srgbClr val="A0A0C0"/>
                </a:solidFill>
                <a:latin typeface="Calibri" pitchFamily="34" charset="0"/>
                <a:ea typeface="Calibri" pitchFamily="34" charset="-122"/>
                <a:cs typeface="Calibri" pitchFamily="34" charset="-120"/>
              </a:rPr>
              <a:t>• Consider resource constraints when selecting threshold — RF Tuned at 0.40 offers better specificity if false alarms are costly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250</TotalTime>
  <Words>1096</Words>
  <Application>Microsoft Office PowerPoint</Application>
  <PresentationFormat>On-screen Show (16:9)</PresentationFormat>
  <Paragraphs>201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Accuracy: A Clinical Validation Approach to CVD Prediction</dc:title>
  <dc:subject>PptxGenJS Presentation</dc:subject>
  <dc:creator>Melissa Nooney</dc:creator>
  <cp:lastModifiedBy>Melissa Nooney</cp:lastModifiedBy>
  <cp:revision>2</cp:revision>
  <dcterms:created xsi:type="dcterms:W3CDTF">2026-05-02T14:31:53Z</dcterms:created>
  <dcterms:modified xsi:type="dcterms:W3CDTF">2026-05-04T03:03:54Z</dcterms:modified>
</cp:coreProperties>
</file>